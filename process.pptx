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3_69469C6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0" r:id="rId4"/>
    <p:sldId id="259" r:id="rId5"/>
    <p:sldId id="262" r:id="rId6"/>
    <p:sldId id="263" r:id="rId7"/>
    <p:sldId id="261" r:id="rId8"/>
    <p:sldId id="258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EBBF9D-2F08-24C9-7C3A-A6D302CCB146}" name="Milan Uhlár, Pharma IT" initials="MU" userId="S::MiUh@pharmait.dk::428b33a8-b4a9-4e6e-aabd-b440be2cbd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3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3_69469C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5CF7DE-9B01-4121-90E2-0F90A1719E2C}" authorId="{FEEBBF9D-2F08-24C9-7C3A-A6D302CCB146}" created="2026-04-01T11:57:41.1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66235241" sldId="259"/>
      <ac:spMk id="7" creationId="{2418B28E-83E4-EF6E-5227-C07894E6DD7B}"/>
      <ac:txMk cp="0" len="9">
        <ac:context len="1066" hash="1421710177"/>
      </ac:txMk>
    </ac:txMkLst>
    <p188:pos x="1870258" y="210805"/>
    <p188:txBody>
      <a:bodyPr/>
      <a:lstStyle/>
      <a:p>
        <a:r>
          <a:rPr lang="en-US"/>
          <a:t>Nemat vlastnu zalozku CALIBRATION INFO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7134D8-494A-EE43-DBE1-554745357B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AC5C6-5125-8F1D-788A-AB18479FFC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E3B87-6F46-40FD-8ED3-7BCE272F13A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83045-13F1-4687-2A14-216E9AB8A3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ACE41-61A5-7787-15BB-05A28691E7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C33BC-5D64-4563-A8B7-9E4AC548B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65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695C8-355D-48A4-A65C-517F146B7F1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02283-20E0-4C0C-8054-274382700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83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B296-3E23-BCCB-8A56-B2FC2A5BF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64AE2-37E6-D3A2-D09B-6ADF4E645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B1CF8-E0AA-B606-CF5E-804D6E1E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675B-5C3E-43F1-9AE0-9C87CD6AC0B7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902E0-C872-9954-424C-8AF13DBA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51BD-C978-F0E8-1AA4-D5F9255B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3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667F-1A39-DDD9-AF41-842DC66A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4426-7DE9-4E65-9AFF-69BDB6110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CDB8-8884-EF96-897D-335FB9E9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39531-AE50-4BE5-86F1-9C010CB5BF9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BE309-6B76-7425-9D2C-D66F86BA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1D76C-D83D-472A-2583-7DFE54C6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9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1964-C0B7-ED89-2D39-026097B5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4C974-F358-E027-4D80-24BD21C44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81714-20D2-BEA9-E50F-C12AFF78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690F1-B16C-46F3-BC59-932991F47F0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C67CC-27C5-9F18-4FC3-E8E23F34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7B3AC-1849-8941-4B5C-9E061881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1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606A-64D4-1985-5FAD-05742769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D13A2-BD87-4FF1-032C-F85DA5763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9AB8B-C915-F8B0-EB84-E035D9D14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36952-A5E1-5E48-2029-85E7A39C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9EEB-C503-4551-A636-C57DBC1BA1B3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C6069-39D5-1DC3-1DF3-84CE7EF3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C9F40-E930-15C5-E09D-E5D6A021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94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EBE0-6BE6-25D5-82EE-3946B03A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C86A3-ED84-DAB0-5824-75CA2397E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CEA95-B537-4FE1-6549-1E026D78D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F54975-E849-3FA9-0B3B-676D86877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D54D7-8378-CB3D-DF9F-59E3A9711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8E985-2350-723F-B6F7-F9C005F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F277-D67B-4FE5-8862-A179B3F341AA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0D9AA-E8C4-ED4C-49A7-C30B27C3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CBD74A-97D6-ABC5-3772-E7A034FA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5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DC4E3-C46C-81EF-2BA9-AA1CFE35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285CC-8EA5-2C99-7F1D-C92EBF70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F27E-88A0-45B2-8CF8-8C23C3D62596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9A21C-EF65-8E7F-878A-B3C6093C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91DBE-632E-CD77-0780-D9D1EF5A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4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41633-DB08-64A6-029E-CB6ADBB3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CDD4-FCFA-4DCA-AB11-24E63093129B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86FD5-B0A0-89DB-839C-DCDF86A0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ADB16-B6BA-EC3A-FA62-76761877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9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CFFDC-7CFC-8A51-5B3C-63B8CBBD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BF74-4442-C13B-4D4A-B3A51B3A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10144-DF52-588F-0FFB-7A0FF6A01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BBCFE-623B-1221-F81E-045D830D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086D-BB2F-47CC-8611-77701ABD8419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BD88C-079E-F24D-B649-2634605D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7443B-AE98-27CF-8C18-A4EE87ED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2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5EBC-1C42-4706-B748-08172C45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432C7-A1CB-84B8-DCF2-D5EE6F2BB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837F0-9366-2ED8-E602-B94ECBAD2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E395D-0B52-D7A8-5B16-37E22BE9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0C124-4097-4C3E-A05B-AB5B17469A8B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58161-575A-118C-7016-59A2E30D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CB754-16DB-0A8F-3AFA-14CB5741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3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0627-5787-FD26-8E97-25A71CD1D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D53C6-9253-CBB1-FD0D-9FD060A54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5F75-9E39-AF01-E368-1A0B0449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C57C3-F670-42D9-9340-251219F8313A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144AF-CB1C-DF5B-2F00-2657730B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EE00A-CEE2-8833-43D1-2D3B6C6F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93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AFF65-B6C9-8F38-C681-AE2F98533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51D16-F47B-6D41-ADED-395C3B965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64511-AD1C-3015-470E-22BAE925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36C81-7033-4F82-8016-36655871C37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41365-A6E9-07B8-4676-7DBAA5FA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A0508-11C5-01EE-0824-EF0750A2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8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19957-910D-4C26-ABB8-FD7EE33E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798A8-7B2F-E7F2-BA34-25646B39D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83A03-BC4D-082D-CDE7-38B166739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DB7E1-2AEF-4B53-98E2-84A8C18B3BF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25D6E-B57B-50F7-D984-197D66788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92CD5-10B5-69F5-596A-BEAB6DACA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241CF-2C7F-486B-9A37-029D6984D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5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3_69469C6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4A2731-FD9C-1AFF-FC8C-F842757B9B24}"/>
              </a:ext>
            </a:extLst>
          </p:cNvPr>
          <p:cNvSpPr txBox="1"/>
          <p:nvPr/>
        </p:nvSpPr>
        <p:spPr>
          <a:xfrm>
            <a:off x="542441" y="635431"/>
            <a:ext cx="115447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IDEA: Mat </a:t>
            </a:r>
            <a:r>
              <a:rPr lang="en-US" dirty="0" err="1"/>
              <a:t>plnohodnotny</a:t>
            </a:r>
            <a:r>
              <a:rPr lang="en-US" dirty="0"/>
              <a:t> software, </a:t>
            </a:r>
            <a:r>
              <a:rPr lang="en-US" dirty="0" err="1"/>
              <a:t>ktory</a:t>
            </a:r>
            <a:r>
              <a:rPr lang="en-US" dirty="0"/>
              <a:t> </a:t>
            </a:r>
            <a:r>
              <a:rPr lang="en-US" dirty="0" err="1"/>
              <a:t>dokaze</a:t>
            </a:r>
            <a:r>
              <a:rPr lang="en-US" dirty="0"/>
              <a:t> </a:t>
            </a:r>
            <a:r>
              <a:rPr lang="en-US" dirty="0" err="1"/>
              <a:t>vygenerovat</a:t>
            </a:r>
            <a:r>
              <a:rPr lang="en-US" dirty="0"/>
              <a:t> </a:t>
            </a:r>
            <a:r>
              <a:rPr lang="en-US" dirty="0" err="1"/>
              <a:t>krivky</a:t>
            </a:r>
            <a:r>
              <a:rPr lang="en-US" dirty="0"/>
              <a:t> “</a:t>
            </a:r>
            <a:r>
              <a:rPr lang="en-US" dirty="0" err="1"/>
              <a:t>promenych</a:t>
            </a:r>
            <a:r>
              <a:rPr lang="en-US" dirty="0"/>
              <a:t> </a:t>
            </a:r>
            <a:r>
              <a:rPr lang="en-US" dirty="0" err="1"/>
              <a:t>hviezd</a:t>
            </a:r>
            <a:r>
              <a:rPr lang="en-US" dirty="0"/>
              <a:t>” z raw fits </a:t>
            </a:r>
            <a:r>
              <a:rPr lang="en-US" dirty="0" err="1"/>
              <a:t>snimku</a:t>
            </a:r>
            <a:r>
              <a:rPr lang="en-US" dirty="0"/>
              <a:t>, </a:t>
            </a:r>
          </a:p>
          <a:p>
            <a:r>
              <a:rPr lang="en-US" dirty="0" err="1"/>
              <a:t>kde</a:t>
            </a:r>
            <a:r>
              <a:rPr lang="en-US" dirty="0"/>
              <a:t> process od A po Z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robustny</a:t>
            </a:r>
            <a:r>
              <a:rPr lang="en-US" dirty="0"/>
              <a:t>, </a:t>
            </a:r>
            <a:r>
              <a:rPr lang="en-US" dirty="0" err="1"/>
              <a:t>jednoduchy</a:t>
            </a:r>
            <a:r>
              <a:rPr lang="en-US" dirty="0"/>
              <a:t> a </a:t>
            </a:r>
            <a:r>
              <a:rPr lang="en-US" dirty="0" err="1"/>
              <a:t>uzivatelsky</a:t>
            </a:r>
            <a:r>
              <a:rPr lang="en-US" dirty="0"/>
              <a:t> </a:t>
            </a:r>
            <a:r>
              <a:rPr lang="en-US" dirty="0" err="1"/>
              <a:t>prijemny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Na </a:t>
            </a:r>
            <a:r>
              <a:rPr lang="en-US" dirty="0" err="1"/>
              <a:t>jednej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 </a:t>
            </a:r>
            <a:r>
              <a:rPr lang="en-US" dirty="0" err="1"/>
              <a:t>nalejem</a:t>
            </a:r>
            <a:r>
              <a:rPr lang="en-US" dirty="0"/>
              <a:t> </a:t>
            </a:r>
            <a:r>
              <a:rPr lang="en-US" dirty="0" err="1"/>
              <a:t>sninky</a:t>
            </a:r>
            <a:r>
              <a:rPr lang="en-US" dirty="0"/>
              <a:t> 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druhej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mat </a:t>
            </a:r>
            <a:r>
              <a:rPr lang="en-US" dirty="0" err="1"/>
              <a:t>zpracovane</a:t>
            </a:r>
            <a:r>
              <a:rPr lang="en-US" dirty="0"/>
              <a:t> </a:t>
            </a:r>
            <a:r>
              <a:rPr lang="en-US" dirty="0" err="1"/>
              <a:t>fotometricke</a:t>
            </a:r>
            <a:r>
              <a:rPr lang="en-US" dirty="0"/>
              <a:t> </a:t>
            </a:r>
            <a:r>
              <a:rPr lang="en-US" dirty="0" err="1"/>
              <a:t>krivky</a:t>
            </a:r>
            <a:r>
              <a:rPr lang="en-US" dirty="0"/>
              <a:t> z </a:t>
            </a:r>
            <a:r>
              <a:rPr lang="en-US" dirty="0" err="1"/>
              <a:t>daneho</a:t>
            </a:r>
            <a:r>
              <a:rPr lang="en-US" dirty="0"/>
              <a:t> </a:t>
            </a:r>
            <a:r>
              <a:rPr lang="en-US" dirty="0" err="1"/>
              <a:t>pozorovania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58D88-41E5-BA3B-54C6-22F63EF9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1</a:t>
            </a:fld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8636F792-E97A-627E-2780-3EE369E80734}"/>
              </a:ext>
            </a:extLst>
          </p:cNvPr>
          <p:cNvSpPr/>
          <p:nvPr/>
        </p:nvSpPr>
        <p:spPr>
          <a:xfrm>
            <a:off x="1181878" y="30666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C89C119B-AB84-FF68-E21E-9F611FD012EE}"/>
              </a:ext>
            </a:extLst>
          </p:cNvPr>
          <p:cNvSpPr/>
          <p:nvPr/>
        </p:nvSpPr>
        <p:spPr>
          <a:xfrm>
            <a:off x="1334278" y="32190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EDDF3BF1-8D6C-BA8C-577E-CD4A52F5E80C}"/>
              </a:ext>
            </a:extLst>
          </p:cNvPr>
          <p:cNvSpPr/>
          <p:nvPr/>
        </p:nvSpPr>
        <p:spPr>
          <a:xfrm>
            <a:off x="1486678" y="33714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509AACC0-B525-53F3-70D1-4E09FE6AC9A7}"/>
              </a:ext>
            </a:extLst>
          </p:cNvPr>
          <p:cNvSpPr/>
          <p:nvPr/>
        </p:nvSpPr>
        <p:spPr>
          <a:xfrm>
            <a:off x="1639078" y="35238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5CF7E3DA-497E-855D-20AD-78B55D8CEB10}"/>
              </a:ext>
            </a:extLst>
          </p:cNvPr>
          <p:cNvSpPr/>
          <p:nvPr/>
        </p:nvSpPr>
        <p:spPr>
          <a:xfrm>
            <a:off x="1791478" y="36762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82AD1096-9B7C-23D7-F060-E7B66E56653C}"/>
              </a:ext>
            </a:extLst>
          </p:cNvPr>
          <p:cNvSpPr/>
          <p:nvPr/>
        </p:nvSpPr>
        <p:spPr>
          <a:xfrm>
            <a:off x="1943878" y="38286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39BEBAC-8871-78AF-8DBB-51B7699E15C7}"/>
              </a:ext>
            </a:extLst>
          </p:cNvPr>
          <p:cNvSpPr/>
          <p:nvPr/>
        </p:nvSpPr>
        <p:spPr>
          <a:xfrm>
            <a:off x="2096278" y="39810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6F4CDE3F-1603-D497-97B6-7C1EEFB38C9D}"/>
              </a:ext>
            </a:extLst>
          </p:cNvPr>
          <p:cNvSpPr/>
          <p:nvPr/>
        </p:nvSpPr>
        <p:spPr>
          <a:xfrm>
            <a:off x="2248678" y="41334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6" name="Rectangle: Single Corner Snipped 15">
            <a:extLst>
              <a:ext uri="{FF2B5EF4-FFF2-40B4-BE49-F238E27FC236}">
                <a16:creationId xmlns:a16="http://schemas.microsoft.com/office/drawing/2014/main" id="{B41BB9A5-E647-6C82-E53A-D79263CBD49E}"/>
              </a:ext>
            </a:extLst>
          </p:cNvPr>
          <p:cNvSpPr/>
          <p:nvPr/>
        </p:nvSpPr>
        <p:spPr>
          <a:xfrm>
            <a:off x="2401078" y="42858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7" name="Rectangle: Single Corner Snipped 16">
            <a:extLst>
              <a:ext uri="{FF2B5EF4-FFF2-40B4-BE49-F238E27FC236}">
                <a16:creationId xmlns:a16="http://schemas.microsoft.com/office/drawing/2014/main" id="{B0539659-B156-5623-3990-135C1C3C6B14}"/>
              </a:ext>
            </a:extLst>
          </p:cNvPr>
          <p:cNvSpPr/>
          <p:nvPr/>
        </p:nvSpPr>
        <p:spPr>
          <a:xfrm>
            <a:off x="2553478" y="44382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56CE63ED-9713-E1D4-856F-5D28792C2FCE}"/>
              </a:ext>
            </a:extLst>
          </p:cNvPr>
          <p:cNvSpPr/>
          <p:nvPr/>
        </p:nvSpPr>
        <p:spPr>
          <a:xfrm>
            <a:off x="2705878" y="45906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55CBD899-E264-4793-BA9A-397227440589}"/>
              </a:ext>
            </a:extLst>
          </p:cNvPr>
          <p:cNvSpPr/>
          <p:nvPr/>
        </p:nvSpPr>
        <p:spPr>
          <a:xfrm>
            <a:off x="2858278" y="4743055"/>
            <a:ext cx="740228" cy="3048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A3EEA57-1EAD-9A3F-8426-B62C27DA7AA2}"/>
              </a:ext>
            </a:extLst>
          </p:cNvPr>
          <p:cNvSpPr/>
          <p:nvPr/>
        </p:nvSpPr>
        <p:spPr>
          <a:xfrm>
            <a:off x="3567403" y="3844206"/>
            <a:ext cx="951723" cy="3168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85C44B-1E99-4C27-4B8B-FCCB409D4D47}"/>
              </a:ext>
            </a:extLst>
          </p:cNvPr>
          <p:cNvSpPr/>
          <p:nvPr/>
        </p:nvSpPr>
        <p:spPr>
          <a:xfrm>
            <a:off x="4627984" y="2842721"/>
            <a:ext cx="2761861" cy="2320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VYVAR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4AB981F-1C45-56A5-9C8C-65BF88EC2F9C}"/>
              </a:ext>
            </a:extLst>
          </p:cNvPr>
          <p:cNvSpPr/>
          <p:nvPr/>
        </p:nvSpPr>
        <p:spPr>
          <a:xfrm>
            <a:off x="7545354" y="3844205"/>
            <a:ext cx="951723" cy="3168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3D259D-4EAF-526E-35FD-E448B1F82313}"/>
              </a:ext>
            </a:extLst>
          </p:cNvPr>
          <p:cNvGrpSpPr/>
          <p:nvPr/>
        </p:nvGrpSpPr>
        <p:grpSpPr>
          <a:xfrm>
            <a:off x="8419323" y="2956599"/>
            <a:ext cx="1132115" cy="696903"/>
            <a:chOff x="8811208" y="2357322"/>
            <a:chExt cx="1132115" cy="69690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A614A1-5116-3ACE-3131-A5B1FDBB6931}"/>
                </a:ext>
              </a:extLst>
            </p:cNvPr>
            <p:cNvSpPr/>
            <p:nvPr/>
          </p:nvSpPr>
          <p:spPr>
            <a:xfrm>
              <a:off x="8938727" y="2357322"/>
              <a:ext cx="1004596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C2437123-CC89-421E-8BDE-21B493A95F09}"/>
                </a:ext>
              </a:extLst>
            </p:cNvPr>
            <p:cNvSpPr/>
            <p:nvPr/>
          </p:nvSpPr>
          <p:spPr>
            <a:xfrm>
              <a:off x="8811208" y="2485270"/>
              <a:ext cx="827315" cy="568955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23647D-C7A7-F33F-97E0-9D1D2ECD5505}"/>
              </a:ext>
            </a:extLst>
          </p:cNvPr>
          <p:cNvGrpSpPr/>
          <p:nvPr/>
        </p:nvGrpSpPr>
        <p:grpSpPr>
          <a:xfrm>
            <a:off x="8607491" y="3177424"/>
            <a:ext cx="1132115" cy="696903"/>
            <a:chOff x="8811208" y="2357322"/>
            <a:chExt cx="1132115" cy="69690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3C2A78-B328-14D7-7193-E68E6412D68E}"/>
                </a:ext>
              </a:extLst>
            </p:cNvPr>
            <p:cNvSpPr/>
            <p:nvPr/>
          </p:nvSpPr>
          <p:spPr>
            <a:xfrm>
              <a:off x="8938727" y="2357322"/>
              <a:ext cx="1004596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05689A37-86FC-FE06-CE06-FF4E5E1E9BCF}"/>
                </a:ext>
              </a:extLst>
            </p:cNvPr>
            <p:cNvSpPr/>
            <p:nvPr/>
          </p:nvSpPr>
          <p:spPr>
            <a:xfrm>
              <a:off x="8811208" y="2485270"/>
              <a:ext cx="827315" cy="568955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63BA27-A88B-FE12-DEBB-9A915A9A7B23}"/>
              </a:ext>
            </a:extLst>
          </p:cNvPr>
          <p:cNvGrpSpPr/>
          <p:nvPr/>
        </p:nvGrpSpPr>
        <p:grpSpPr>
          <a:xfrm>
            <a:off x="8546842" y="3612120"/>
            <a:ext cx="760445" cy="568955"/>
            <a:chOff x="8725677" y="3905965"/>
            <a:chExt cx="760445" cy="56895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84CDC2E-4C3E-50BC-E0F6-8D9004C01BD7}"/>
                </a:ext>
              </a:extLst>
            </p:cNvPr>
            <p:cNvSpPr/>
            <p:nvPr/>
          </p:nvSpPr>
          <p:spPr>
            <a:xfrm>
              <a:off x="8725677" y="3905965"/>
              <a:ext cx="760445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7C31D1E-09BF-3B90-F8BC-55CD16A5D99B}"/>
                </a:ext>
              </a:extLst>
            </p:cNvPr>
            <p:cNvSpPr/>
            <p:nvPr/>
          </p:nvSpPr>
          <p:spPr>
            <a:xfrm>
              <a:off x="8922397" y="3979728"/>
              <a:ext cx="367004" cy="364354"/>
            </a:xfrm>
            <a:custGeom>
              <a:avLst/>
              <a:gdLst>
                <a:gd name="csX0" fmla="*/ 0 w 367004"/>
                <a:gd name="csY0" fmla="*/ 256580 h 364354"/>
                <a:gd name="csX1" fmla="*/ 62204 w 367004"/>
                <a:gd name="csY1" fmla="*/ 1543 h 364354"/>
                <a:gd name="csX2" fmla="*/ 286139 w 367004"/>
                <a:gd name="csY2" fmla="*/ 362327 h 364354"/>
                <a:gd name="csX3" fmla="*/ 367004 w 367004"/>
                <a:gd name="csY3" fmla="*/ 157054 h 364354"/>
                <a:gd name="csX4" fmla="*/ 367004 w 367004"/>
                <a:gd name="csY4" fmla="*/ 157054 h 364354"/>
                <a:gd name="csX5" fmla="*/ 367004 w 367004"/>
                <a:gd name="csY5" fmla="*/ 157054 h 364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7004" h="364354">
                  <a:moveTo>
                    <a:pt x="0" y="256580"/>
                  </a:moveTo>
                  <a:cubicBezTo>
                    <a:pt x="7257" y="120249"/>
                    <a:pt x="14514" y="-16081"/>
                    <a:pt x="62204" y="1543"/>
                  </a:cubicBezTo>
                  <a:cubicBezTo>
                    <a:pt x="109894" y="19167"/>
                    <a:pt x="235339" y="336409"/>
                    <a:pt x="286139" y="362327"/>
                  </a:cubicBezTo>
                  <a:cubicBezTo>
                    <a:pt x="336939" y="388245"/>
                    <a:pt x="367004" y="157054"/>
                    <a:pt x="367004" y="157054"/>
                  </a:cubicBezTo>
                  <a:lnTo>
                    <a:pt x="367004" y="157054"/>
                  </a:lnTo>
                  <a:lnTo>
                    <a:pt x="367004" y="157054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18CA66B-825D-2D39-BA81-FDBD463F1AB4}"/>
              </a:ext>
            </a:extLst>
          </p:cNvPr>
          <p:cNvGrpSpPr/>
          <p:nvPr/>
        </p:nvGrpSpPr>
        <p:grpSpPr>
          <a:xfrm>
            <a:off x="8699242" y="3764520"/>
            <a:ext cx="760445" cy="568955"/>
            <a:chOff x="8725677" y="3905965"/>
            <a:chExt cx="760445" cy="56895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5366F2B-1F9A-F03F-1CBE-EFA3A66D1D4F}"/>
                </a:ext>
              </a:extLst>
            </p:cNvPr>
            <p:cNvSpPr/>
            <p:nvPr/>
          </p:nvSpPr>
          <p:spPr>
            <a:xfrm>
              <a:off x="8725677" y="3905965"/>
              <a:ext cx="760445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B986A47-5B57-BAD8-CFF2-64A115FAEDBD}"/>
                </a:ext>
              </a:extLst>
            </p:cNvPr>
            <p:cNvSpPr/>
            <p:nvPr/>
          </p:nvSpPr>
          <p:spPr>
            <a:xfrm>
              <a:off x="8922397" y="3979728"/>
              <a:ext cx="367004" cy="364354"/>
            </a:xfrm>
            <a:custGeom>
              <a:avLst/>
              <a:gdLst>
                <a:gd name="csX0" fmla="*/ 0 w 367004"/>
                <a:gd name="csY0" fmla="*/ 256580 h 364354"/>
                <a:gd name="csX1" fmla="*/ 62204 w 367004"/>
                <a:gd name="csY1" fmla="*/ 1543 h 364354"/>
                <a:gd name="csX2" fmla="*/ 286139 w 367004"/>
                <a:gd name="csY2" fmla="*/ 362327 h 364354"/>
                <a:gd name="csX3" fmla="*/ 367004 w 367004"/>
                <a:gd name="csY3" fmla="*/ 157054 h 364354"/>
                <a:gd name="csX4" fmla="*/ 367004 w 367004"/>
                <a:gd name="csY4" fmla="*/ 157054 h 364354"/>
                <a:gd name="csX5" fmla="*/ 367004 w 367004"/>
                <a:gd name="csY5" fmla="*/ 157054 h 364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7004" h="364354">
                  <a:moveTo>
                    <a:pt x="0" y="256580"/>
                  </a:moveTo>
                  <a:cubicBezTo>
                    <a:pt x="7257" y="120249"/>
                    <a:pt x="14514" y="-16081"/>
                    <a:pt x="62204" y="1543"/>
                  </a:cubicBezTo>
                  <a:cubicBezTo>
                    <a:pt x="109894" y="19167"/>
                    <a:pt x="235339" y="336409"/>
                    <a:pt x="286139" y="362327"/>
                  </a:cubicBezTo>
                  <a:cubicBezTo>
                    <a:pt x="336939" y="388245"/>
                    <a:pt x="367004" y="157054"/>
                    <a:pt x="367004" y="157054"/>
                  </a:cubicBezTo>
                  <a:lnTo>
                    <a:pt x="367004" y="157054"/>
                  </a:lnTo>
                  <a:lnTo>
                    <a:pt x="367004" y="157054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DFAE1C-2684-0B9B-8C84-7F5B8B8A1427}"/>
              </a:ext>
            </a:extLst>
          </p:cNvPr>
          <p:cNvGrpSpPr/>
          <p:nvPr/>
        </p:nvGrpSpPr>
        <p:grpSpPr>
          <a:xfrm>
            <a:off x="8851642" y="3916920"/>
            <a:ext cx="760445" cy="568955"/>
            <a:chOff x="8725677" y="3905965"/>
            <a:chExt cx="760445" cy="56895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22F95C9-A82A-8751-FCCD-C7BEF71EA25D}"/>
                </a:ext>
              </a:extLst>
            </p:cNvPr>
            <p:cNvSpPr/>
            <p:nvPr/>
          </p:nvSpPr>
          <p:spPr>
            <a:xfrm>
              <a:off x="8725677" y="3905965"/>
              <a:ext cx="760445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AEA6C2-0465-CB3E-760F-BAD3CE4B51AE}"/>
                </a:ext>
              </a:extLst>
            </p:cNvPr>
            <p:cNvSpPr/>
            <p:nvPr/>
          </p:nvSpPr>
          <p:spPr>
            <a:xfrm>
              <a:off x="8922397" y="3979728"/>
              <a:ext cx="367004" cy="364354"/>
            </a:xfrm>
            <a:custGeom>
              <a:avLst/>
              <a:gdLst>
                <a:gd name="csX0" fmla="*/ 0 w 367004"/>
                <a:gd name="csY0" fmla="*/ 256580 h 364354"/>
                <a:gd name="csX1" fmla="*/ 62204 w 367004"/>
                <a:gd name="csY1" fmla="*/ 1543 h 364354"/>
                <a:gd name="csX2" fmla="*/ 286139 w 367004"/>
                <a:gd name="csY2" fmla="*/ 362327 h 364354"/>
                <a:gd name="csX3" fmla="*/ 367004 w 367004"/>
                <a:gd name="csY3" fmla="*/ 157054 h 364354"/>
                <a:gd name="csX4" fmla="*/ 367004 w 367004"/>
                <a:gd name="csY4" fmla="*/ 157054 h 364354"/>
                <a:gd name="csX5" fmla="*/ 367004 w 367004"/>
                <a:gd name="csY5" fmla="*/ 157054 h 364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7004" h="364354">
                  <a:moveTo>
                    <a:pt x="0" y="256580"/>
                  </a:moveTo>
                  <a:cubicBezTo>
                    <a:pt x="7257" y="120249"/>
                    <a:pt x="14514" y="-16081"/>
                    <a:pt x="62204" y="1543"/>
                  </a:cubicBezTo>
                  <a:cubicBezTo>
                    <a:pt x="109894" y="19167"/>
                    <a:pt x="235339" y="336409"/>
                    <a:pt x="286139" y="362327"/>
                  </a:cubicBezTo>
                  <a:cubicBezTo>
                    <a:pt x="336939" y="388245"/>
                    <a:pt x="367004" y="157054"/>
                    <a:pt x="367004" y="157054"/>
                  </a:cubicBezTo>
                  <a:lnTo>
                    <a:pt x="367004" y="157054"/>
                  </a:lnTo>
                  <a:lnTo>
                    <a:pt x="367004" y="157054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8064191-8E90-FB0D-5CC2-4751BE25FF2E}"/>
              </a:ext>
            </a:extLst>
          </p:cNvPr>
          <p:cNvGrpSpPr/>
          <p:nvPr/>
        </p:nvGrpSpPr>
        <p:grpSpPr>
          <a:xfrm>
            <a:off x="8546842" y="4350482"/>
            <a:ext cx="760445" cy="568955"/>
            <a:chOff x="8724123" y="4477640"/>
            <a:chExt cx="760445" cy="56895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B279CB9-7645-BCA2-E4B3-F08F6BA9AB1B}"/>
                </a:ext>
              </a:extLst>
            </p:cNvPr>
            <p:cNvSpPr/>
            <p:nvPr/>
          </p:nvSpPr>
          <p:spPr>
            <a:xfrm>
              <a:off x="8724123" y="4477640"/>
              <a:ext cx="760445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03381-D229-9C4C-ABBE-993FE183054E}"/>
                </a:ext>
              </a:extLst>
            </p:cNvPr>
            <p:cNvSpPr/>
            <p:nvPr/>
          </p:nvSpPr>
          <p:spPr>
            <a:xfrm>
              <a:off x="8763807" y="4645997"/>
              <a:ext cx="631313" cy="295174"/>
            </a:xfrm>
            <a:custGeom>
              <a:avLst/>
              <a:gdLst>
                <a:gd name="csX0" fmla="*/ 0 w 1030198"/>
                <a:gd name="csY0" fmla="*/ 0 h 404593"/>
                <a:gd name="csX1" fmla="*/ 373225 w 1030198"/>
                <a:gd name="csY1" fmla="*/ 68425 h 404593"/>
                <a:gd name="csX2" fmla="*/ 572278 w 1030198"/>
                <a:gd name="csY2" fmla="*/ 261257 h 404593"/>
                <a:gd name="csX3" fmla="*/ 646923 w 1030198"/>
                <a:gd name="csY3" fmla="*/ 404327 h 404593"/>
                <a:gd name="csX4" fmla="*/ 696686 w 1030198"/>
                <a:gd name="csY4" fmla="*/ 292359 h 404593"/>
                <a:gd name="csX5" fmla="*/ 796212 w 1030198"/>
                <a:gd name="csY5" fmla="*/ 130629 h 404593"/>
                <a:gd name="csX6" fmla="*/ 1007706 w 1030198"/>
                <a:gd name="csY6" fmla="*/ 55984 h 404593"/>
                <a:gd name="csX7" fmla="*/ 1013927 w 1030198"/>
                <a:gd name="csY7" fmla="*/ 55984 h 404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30198" h="404593">
                  <a:moveTo>
                    <a:pt x="0" y="0"/>
                  </a:moveTo>
                  <a:cubicBezTo>
                    <a:pt x="138922" y="12441"/>
                    <a:pt x="277845" y="24882"/>
                    <a:pt x="373225" y="68425"/>
                  </a:cubicBezTo>
                  <a:cubicBezTo>
                    <a:pt x="468605" y="111968"/>
                    <a:pt x="526662" y="205273"/>
                    <a:pt x="572278" y="261257"/>
                  </a:cubicBezTo>
                  <a:cubicBezTo>
                    <a:pt x="617894" y="317241"/>
                    <a:pt x="626188" y="399143"/>
                    <a:pt x="646923" y="404327"/>
                  </a:cubicBezTo>
                  <a:cubicBezTo>
                    <a:pt x="667658" y="409511"/>
                    <a:pt x="671805" y="337975"/>
                    <a:pt x="696686" y="292359"/>
                  </a:cubicBezTo>
                  <a:cubicBezTo>
                    <a:pt x="721567" y="246743"/>
                    <a:pt x="744375" y="170025"/>
                    <a:pt x="796212" y="130629"/>
                  </a:cubicBezTo>
                  <a:cubicBezTo>
                    <a:pt x="848049" y="91233"/>
                    <a:pt x="1007706" y="55984"/>
                    <a:pt x="1007706" y="55984"/>
                  </a:cubicBezTo>
                  <a:cubicBezTo>
                    <a:pt x="1043992" y="43543"/>
                    <a:pt x="1028959" y="49763"/>
                    <a:pt x="1013927" y="5598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041FF6D-6759-680F-131A-BD9DF9B8E935}"/>
              </a:ext>
            </a:extLst>
          </p:cNvPr>
          <p:cNvGrpSpPr/>
          <p:nvPr/>
        </p:nvGrpSpPr>
        <p:grpSpPr>
          <a:xfrm>
            <a:off x="8699242" y="4502882"/>
            <a:ext cx="760445" cy="568955"/>
            <a:chOff x="8724123" y="4477640"/>
            <a:chExt cx="760445" cy="56895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2D78308-6ED1-A1A5-03CD-CACDCB777D0B}"/>
                </a:ext>
              </a:extLst>
            </p:cNvPr>
            <p:cNvSpPr/>
            <p:nvPr/>
          </p:nvSpPr>
          <p:spPr>
            <a:xfrm>
              <a:off x="8724123" y="4477640"/>
              <a:ext cx="760445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FE72870-664F-03C5-CB22-F6E7507B92FC}"/>
                </a:ext>
              </a:extLst>
            </p:cNvPr>
            <p:cNvSpPr/>
            <p:nvPr/>
          </p:nvSpPr>
          <p:spPr>
            <a:xfrm>
              <a:off x="8763807" y="4645997"/>
              <a:ext cx="631313" cy="295174"/>
            </a:xfrm>
            <a:custGeom>
              <a:avLst/>
              <a:gdLst>
                <a:gd name="csX0" fmla="*/ 0 w 1030198"/>
                <a:gd name="csY0" fmla="*/ 0 h 404593"/>
                <a:gd name="csX1" fmla="*/ 373225 w 1030198"/>
                <a:gd name="csY1" fmla="*/ 68425 h 404593"/>
                <a:gd name="csX2" fmla="*/ 572278 w 1030198"/>
                <a:gd name="csY2" fmla="*/ 261257 h 404593"/>
                <a:gd name="csX3" fmla="*/ 646923 w 1030198"/>
                <a:gd name="csY3" fmla="*/ 404327 h 404593"/>
                <a:gd name="csX4" fmla="*/ 696686 w 1030198"/>
                <a:gd name="csY4" fmla="*/ 292359 h 404593"/>
                <a:gd name="csX5" fmla="*/ 796212 w 1030198"/>
                <a:gd name="csY5" fmla="*/ 130629 h 404593"/>
                <a:gd name="csX6" fmla="*/ 1007706 w 1030198"/>
                <a:gd name="csY6" fmla="*/ 55984 h 404593"/>
                <a:gd name="csX7" fmla="*/ 1013927 w 1030198"/>
                <a:gd name="csY7" fmla="*/ 55984 h 404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30198" h="404593">
                  <a:moveTo>
                    <a:pt x="0" y="0"/>
                  </a:moveTo>
                  <a:cubicBezTo>
                    <a:pt x="138922" y="12441"/>
                    <a:pt x="277845" y="24882"/>
                    <a:pt x="373225" y="68425"/>
                  </a:cubicBezTo>
                  <a:cubicBezTo>
                    <a:pt x="468605" y="111968"/>
                    <a:pt x="526662" y="205273"/>
                    <a:pt x="572278" y="261257"/>
                  </a:cubicBezTo>
                  <a:cubicBezTo>
                    <a:pt x="617894" y="317241"/>
                    <a:pt x="626188" y="399143"/>
                    <a:pt x="646923" y="404327"/>
                  </a:cubicBezTo>
                  <a:cubicBezTo>
                    <a:pt x="667658" y="409511"/>
                    <a:pt x="671805" y="337975"/>
                    <a:pt x="696686" y="292359"/>
                  </a:cubicBezTo>
                  <a:cubicBezTo>
                    <a:pt x="721567" y="246743"/>
                    <a:pt x="744375" y="170025"/>
                    <a:pt x="796212" y="130629"/>
                  </a:cubicBezTo>
                  <a:cubicBezTo>
                    <a:pt x="848049" y="91233"/>
                    <a:pt x="1007706" y="55984"/>
                    <a:pt x="1007706" y="55984"/>
                  </a:cubicBezTo>
                  <a:cubicBezTo>
                    <a:pt x="1043992" y="43543"/>
                    <a:pt x="1028959" y="49763"/>
                    <a:pt x="1013927" y="5598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AE1FD41-23EE-33BA-C5F7-4F419C5D20D8}"/>
              </a:ext>
            </a:extLst>
          </p:cNvPr>
          <p:cNvGrpSpPr/>
          <p:nvPr/>
        </p:nvGrpSpPr>
        <p:grpSpPr>
          <a:xfrm>
            <a:off x="8851642" y="4655282"/>
            <a:ext cx="760445" cy="568955"/>
            <a:chOff x="8724123" y="4477640"/>
            <a:chExt cx="760445" cy="568955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28D5DCB-5B99-FB0A-C7C8-853168578644}"/>
                </a:ext>
              </a:extLst>
            </p:cNvPr>
            <p:cNvSpPr/>
            <p:nvPr/>
          </p:nvSpPr>
          <p:spPr>
            <a:xfrm>
              <a:off x="8724123" y="4477640"/>
              <a:ext cx="760445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DE0ABB8-0E1B-F950-80D1-A46234D009B8}"/>
                </a:ext>
              </a:extLst>
            </p:cNvPr>
            <p:cNvSpPr/>
            <p:nvPr/>
          </p:nvSpPr>
          <p:spPr>
            <a:xfrm>
              <a:off x="8763807" y="4645997"/>
              <a:ext cx="631313" cy="295174"/>
            </a:xfrm>
            <a:custGeom>
              <a:avLst/>
              <a:gdLst>
                <a:gd name="csX0" fmla="*/ 0 w 1030198"/>
                <a:gd name="csY0" fmla="*/ 0 h 404593"/>
                <a:gd name="csX1" fmla="*/ 373225 w 1030198"/>
                <a:gd name="csY1" fmla="*/ 68425 h 404593"/>
                <a:gd name="csX2" fmla="*/ 572278 w 1030198"/>
                <a:gd name="csY2" fmla="*/ 261257 h 404593"/>
                <a:gd name="csX3" fmla="*/ 646923 w 1030198"/>
                <a:gd name="csY3" fmla="*/ 404327 h 404593"/>
                <a:gd name="csX4" fmla="*/ 696686 w 1030198"/>
                <a:gd name="csY4" fmla="*/ 292359 h 404593"/>
                <a:gd name="csX5" fmla="*/ 796212 w 1030198"/>
                <a:gd name="csY5" fmla="*/ 130629 h 404593"/>
                <a:gd name="csX6" fmla="*/ 1007706 w 1030198"/>
                <a:gd name="csY6" fmla="*/ 55984 h 404593"/>
                <a:gd name="csX7" fmla="*/ 1013927 w 1030198"/>
                <a:gd name="csY7" fmla="*/ 55984 h 404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30198" h="404593">
                  <a:moveTo>
                    <a:pt x="0" y="0"/>
                  </a:moveTo>
                  <a:cubicBezTo>
                    <a:pt x="138922" y="12441"/>
                    <a:pt x="277845" y="24882"/>
                    <a:pt x="373225" y="68425"/>
                  </a:cubicBezTo>
                  <a:cubicBezTo>
                    <a:pt x="468605" y="111968"/>
                    <a:pt x="526662" y="205273"/>
                    <a:pt x="572278" y="261257"/>
                  </a:cubicBezTo>
                  <a:cubicBezTo>
                    <a:pt x="617894" y="317241"/>
                    <a:pt x="626188" y="399143"/>
                    <a:pt x="646923" y="404327"/>
                  </a:cubicBezTo>
                  <a:cubicBezTo>
                    <a:pt x="667658" y="409511"/>
                    <a:pt x="671805" y="337975"/>
                    <a:pt x="696686" y="292359"/>
                  </a:cubicBezTo>
                  <a:cubicBezTo>
                    <a:pt x="721567" y="246743"/>
                    <a:pt x="744375" y="170025"/>
                    <a:pt x="796212" y="130629"/>
                  </a:cubicBezTo>
                  <a:cubicBezTo>
                    <a:pt x="848049" y="91233"/>
                    <a:pt x="1007706" y="55984"/>
                    <a:pt x="1007706" y="55984"/>
                  </a:cubicBezTo>
                  <a:cubicBezTo>
                    <a:pt x="1043992" y="43543"/>
                    <a:pt x="1028959" y="49763"/>
                    <a:pt x="1013927" y="5598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5E4571A-5352-E177-81A3-D2F0519874BA}"/>
              </a:ext>
            </a:extLst>
          </p:cNvPr>
          <p:cNvGrpSpPr/>
          <p:nvPr/>
        </p:nvGrpSpPr>
        <p:grpSpPr>
          <a:xfrm>
            <a:off x="9004042" y="4807682"/>
            <a:ext cx="760445" cy="568955"/>
            <a:chOff x="8724123" y="4477640"/>
            <a:chExt cx="760445" cy="56895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B2340C9-4AD2-FF4C-50F2-E9FDBB1E1025}"/>
                </a:ext>
              </a:extLst>
            </p:cNvPr>
            <p:cNvSpPr/>
            <p:nvPr/>
          </p:nvSpPr>
          <p:spPr>
            <a:xfrm>
              <a:off x="8724123" y="4477640"/>
              <a:ext cx="760445" cy="568955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DF8ADBF-FE75-AD8F-4CB8-C32C2D03F7C8}"/>
                </a:ext>
              </a:extLst>
            </p:cNvPr>
            <p:cNvSpPr/>
            <p:nvPr/>
          </p:nvSpPr>
          <p:spPr>
            <a:xfrm>
              <a:off x="8763807" y="4645997"/>
              <a:ext cx="631313" cy="295174"/>
            </a:xfrm>
            <a:custGeom>
              <a:avLst/>
              <a:gdLst>
                <a:gd name="csX0" fmla="*/ 0 w 1030198"/>
                <a:gd name="csY0" fmla="*/ 0 h 404593"/>
                <a:gd name="csX1" fmla="*/ 373225 w 1030198"/>
                <a:gd name="csY1" fmla="*/ 68425 h 404593"/>
                <a:gd name="csX2" fmla="*/ 572278 w 1030198"/>
                <a:gd name="csY2" fmla="*/ 261257 h 404593"/>
                <a:gd name="csX3" fmla="*/ 646923 w 1030198"/>
                <a:gd name="csY3" fmla="*/ 404327 h 404593"/>
                <a:gd name="csX4" fmla="*/ 696686 w 1030198"/>
                <a:gd name="csY4" fmla="*/ 292359 h 404593"/>
                <a:gd name="csX5" fmla="*/ 796212 w 1030198"/>
                <a:gd name="csY5" fmla="*/ 130629 h 404593"/>
                <a:gd name="csX6" fmla="*/ 1007706 w 1030198"/>
                <a:gd name="csY6" fmla="*/ 55984 h 404593"/>
                <a:gd name="csX7" fmla="*/ 1013927 w 1030198"/>
                <a:gd name="csY7" fmla="*/ 55984 h 4045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30198" h="404593">
                  <a:moveTo>
                    <a:pt x="0" y="0"/>
                  </a:moveTo>
                  <a:cubicBezTo>
                    <a:pt x="138922" y="12441"/>
                    <a:pt x="277845" y="24882"/>
                    <a:pt x="373225" y="68425"/>
                  </a:cubicBezTo>
                  <a:cubicBezTo>
                    <a:pt x="468605" y="111968"/>
                    <a:pt x="526662" y="205273"/>
                    <a:pt x="572278" y="261257"/>
                  </a:cubicBezTo>
                  <a:cubicBezTo>
                    <a:pt x="617894" y="317241"/>
                    <a:pt x="626188" y="399143"/>
                    <a:pt x="646923" y="404327"/>
                  </a:cubicBezTo>
                  <a:cubicBezTo>
                    <a:pt x="667658" y="409511"/>
                    <a:pt x="671805" y="337975"/>
                    <a:pt x="696686" y="292359"/>
                  </a:cubicBezTo>
                  <a:cubicBezTo>
                    <a:pt x="721567" y="246743"/>
                    <a:pt x="744375" y="170025"/>
                    <a:pt x="796212" y="130629"/>
                  </a:cubicBezTo>
                  <a:cubicBezTo>
                    <a:pt x="848049" y="91233"/>
                    <a:pt x="1007706" y="55984"/>
                    <a:pt x="1007706" y="55984"/>
                  </a:cubicBezTo>
                  <a:cubicBezTo>
                    <a:pt x="1043992" y="43543"/>
                    <a:pt x="1028959" y="49763"/>
                    <a:pt x="1013927" y="5598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6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78EF5-CE07-8C12-B4DE-1A818118A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4E58D-4FA9-91CF-F6F9-A2FC2245D717}"/>
              </a:ext>
            </a:extLst>
          </p:cNvPr>
          <p:cNvSpPr txBox="1"/>
          <p:nvPr/>
        </p:nvSpPr>
        <p:spPr>
          <a:xfrm>
            <a:off x="331044" y="546039"/>
            <a:ext cx="10390858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DATA</a:t>
            </a:r>
          </a:p>
          <a:p>
            <a:endParaRPr lang="en-US" dirty="0"/>
          </a:p>
          <a:p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Pozorovanie</a:t>
            </a:r>
            <a:r>
              <a:rPr lang="en-US" dirty="0"/>
              <a:t> –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Technika</a:t>
            </a:r>
            <a:r>
              <a:rPr lang="en-US" dirty="0"/>
              <a:t> –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Scaning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specificke</a:t>
            </a:r>
            <a:r>
              <a:rPr lang="en-US" dirty="0">
                <a:sym typeface="Wingdings" panose="05000000000000000000" pitchFamily="2" charset="2"/>
              </a:rPr>
              <a:t> pole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POLE1: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beta Per + datetime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QHY294+ohnisko 200mm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cas:60sek+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R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Pripady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pocas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jednej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noci</a:t>
            </a:r>
            <a:r>
              <a:rPr lang="en-US" dirty="0">
                <a:sym typeface="Wingdings" panose="05000000000000000000" pitchFamily="2" charset="2"/>
              </a:rPr>
              <a:t>!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beta Per + datetime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QHY294+ohnisko 200mm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cas:60sek+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R</a:t>
            </a:r>
          </a:p>
          <a:p>
            <a:endParaRPr lang="en-US" b="1" dirty="0">
              <a:solidFill>
                <a:schemeClr val="accent3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beta Per + datetime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QHY294+ohnisko 200mm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cas:60sek+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R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beta Per + datetime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QHY294+ohnisko 200mm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cas:60sek+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V</a:t>
            </a:r>
          </a:p>
          <a:p>
            <a:endParaRPr lang="en-US" b="1" dirty="0">
              <a:solidFill>
                <a:schemeClr val="accent3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endParaRPr lang="en-US" b="1" dirty="0">
              <a:solidFill>
                <a:schemeClr val="accent3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beta Per + datetime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QHY294+ohnisko 200mm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cas:60sek+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R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beta Per + datetime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QHY294+ohnisko 200mm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cas:120sek+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B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beta Per + datetime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QHY294+ohnisko 200mm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cas:120sek+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U</a:t>
            </a:r>
          </a:p>
          <a:p>
            <a:endParaRPr lang="en-US" b="1" dirty="0">
              <a:solidFill>
                <a:schemeClr val="accent3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17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2DE2-6C24-7025-1217-3D0F111D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C748B-8A2D-08BA-C1F2-7528D1D9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28F85-EA37-B88C-D8E7-EF23BB3AFD4E}"/>
              </a:ext>
            </a:extLst>
          </p:cNvPr>
          <p:cNvSpPr txBox="1"/>
          <p:nvPr/>
        </p:nvSpPr>
        <p:spPr>
          <a:xfrm>
            <a:off x="349705" y="546039"/>
            <a:ext cx="9937849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DATA v ADRESAROCH</a:t>
            </a:r>
          </a:p>
          <a:p>
            <a:endParaRPr lang="en-US" dirty="0"/>
          </a:p>
          <a:p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Adresarova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struktura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raw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snimku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z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pozorovania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alebo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tvorby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kalibracnych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snimku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.</a:t>
            </a:r>
          </a:p>
          <a:p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Nazov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objektu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(bet Per)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\Light (ten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moze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obsahovat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snimky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pre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rozne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konfigurace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(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bin,cas,teplota,filter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ohnisko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\Dark (ten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moze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obsahovat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snimky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pre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rozne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konfigurace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(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cas,teplota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\Flat(ten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moze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obsahovat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snimky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pre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rozne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konfigurace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 (filter,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ohnisko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V </a:t>
            </a:r>
            <a:r>
              <a:rPr lang="en-US" dirty="0" err="1">
                <a:sym typeface="Wingdings" panose="05000000000000000000" pitchFamily="2" charset="2"/>
              </a:rPr>
              <a:t>adresary</a:t>
            </a:r>
            <a:r>
              <a:rPr lang="en-US" dirty="0">
                <a:sym typeface="Wingdings" panose="05000000000000000000" pitchFamily="2" charset="2"/>
              </a:rPr>
              <a:t> Light, </a:t>
            </a:r>
            <a:r>
              <a:rPr lang="en-US" dirty="0" err="1">
                <a:sym typeface="Wingdings" panose="05000000000000000000" pitchFamily="2" charset="2"/>
              </a:rPr>
              <a:t>uz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pocita</a:t>
            </a:r>
            <a:r>
              <a:rPr lang="en-US" dirty="0">
                <a:sym typeface="Wingdings" panose="05000000000000000000" pitchFamily="2" charset="2"/>
              </a:rPr>
              <a:t> ze </a:t>
            </a:r>
            <a:r>
              <a:rPr lang="en-US" dirty="0" err="1">
                <a:sym typeface="Wingdings" panose="05000000000000000000" pitchFamily="2" charset="2"/>
              </a:rPr>
              <a:t>mozen</a:t>
            </a:r>
            <a:r>
              <a:rPr lang="en-US" dirty="0">
                <a:sym typeface="Wingdings" panose="05000000000000000000" pitchFamily="2" charset="2"/>
              </a:rPr>
              <a:t> mat </a:t>
            </a:r>
            <a:r>
              <a:rPr lang="en-US" dirty="0" err="1">
                <a:sym typeface="Wingdings" panose="05000000000000000000" pitchFamily="2" charset="2"/>
              </a:rPr>
              <a:t>na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jedno</a:t>
            </a:r>
            <a:r>
              <a:rPr lang="en-US" dirty="0">
                <a:sym typeface="Wingdings" panose="05000000000000000000" pitchFamily="2" charset="2"/>
              </a:rPr>
              <a:t> pole </a:t>
            </a:r>
            <a:r>
              <a:rPr lang="en-US" dirty="0" err="1">
                <a:sym typeface="Wingdings" panose="05000000000000000000" pitchFamily="2" charset="2"/>
              </a:rPr>
              <a:t>viac</a:t>
            </a:r>
            <a:r>
              <a:rPr lang="en-US" dirty="0">
                <a:sym typeface="Wingdings" panose="05000000000000000000" pitchFamily="2" charset="2"/>
              </a:rPr>
              <a:t> scanning </a:t>
            </a:r>
            <a:r>
              <a:rPr lang="en-US" dirty="0" err="1">
                <a:sym typeface="Wingdings" panose="05000000000000000000" pitchFamily="2" charset="2"/>
              </a:rPr>
              <a:t>konfiguraci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Modre</a:t>
            </a:r>
            <a:r>
              <a:rPr lang="en-US" dirty="0">
                <a:sym typeface="Wingdings" panose="05000000000000000000" pitchFamily="2" charset="2"/>
              </a:rPr>
              <a:t> je </a:t>
            </a:r>
            <a:r>
              <a:rPr lang="en-US" dirty="0" err="1">
                <a:sym typeface="Wingdings" panose="05000000000000000000" pitchFamily="2" charset="2"/>
              </a:rPr>
              <a:t>fixne</a:t>
            </a:r>
            <a:r>
              <a:rPr lang="en-US" dirty="0">
                <a:sym typeface="Wingdings" panose="05000000000000000000" pitchFamily="2" charset="2"/>
              </a:rPr>
              <a:t> pre dan </a:t>
            </a:r>
            <a:r>
              <a:rPr lang="en-US" dirty="0" err="1">
                <a:sym typeface="Wingdings" panose="05000000000000000000" pitchFamily="2" charset="2"/>
              </a:rPr>
              <a:t>pozorovanie</a:t>
            </a:r>
            <a:r>
              <a:rPr lang="en-US" dirty="0">
                <a:sym typeface="Wingdings" panose="05000000000000000000" pitchFamily="2" charset="2"/>
              </a:rPr>
              <a:t> (pre </a:t>
            </a:r>
            <a:r>
              <a:rPr lang="en-US" dirty="0" err="1">
                <a:sym typeface="Wingdings" panose="05000000000000000000" pitchFamily="2" charset="2"/>
              </a:rPr>
              <a:t>danu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noc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beta Per + datetime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QHY294+ohnisko 200mm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cas:60sek+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R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beta Per + datetime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 –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QHY294+ohnisko 200mm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–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cas:120sek+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teplota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:-10 + binning:1x1 + filter: 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E2AAED-0F34-DBF4-BD80-09AE8E10B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55" y="2775485"/>
            <a:ext cx="4541740" cy="143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46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F823-1D5F-A788-01D4-8A021518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C8E0C-2A6B-C843-9340-2FFF7D4B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8B28E-83E4-EF6E-5227-C07894E6DD7B}"/>
              </a:ext>
            </a:extLst>
          </p:cNvPr>
          <p:cNvSpPr txBox="1"/>
          <p:nvPr/>
        </p:nvSpPr>
        <p:spPr>
          <a:xfrm>
            <a:off x="511435" y="136525"/>
            <a:ext cx="11602279" cy="6401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Kalibrace</a:t>
            </a:r>
            <a:r>
              <a:rPr lang="en-US" sz="3200" b="1" dirty="0"/>
              <a:t> – DATA (</a:t>
            </a:r>
            <a:r>
              <a:rPr lang="en-US" sz="3200" b="1" dirty="0" err="1"/>
              <a:t>krok</a:t>
            </a:r>
            <a:r>
              <a:rPr lang="en-US" sz="3200" b="1" dirty="0"/>
              <a:t> 1)</a:t>
            </a:r>
          </a:p>
          <a:p>
            <a:endParaRPr lang="en-US" dirty="0"/>
          </a:p>
          <a:p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Pozorovanie</a:t>
            </a:r>
            <a:r>
              <a:rPr lang="en-US" dirty="0"/>
              <a:t> –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Technika</a:t>
            </a:r>
            <a:r>
              <a:rPr lang="en-US" dirty="0"/>
              <a:t> –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Scaning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specificke</a:t>
            </a:r>
            <a:r>
              <a:rPr lang="en-US" dirty="0">
                <a:sym typeface="Wingdings" panose="05000000000000000000" pitchFamily="2" charset="2"/>
              </a:rPr>
              <a:t> pole</a:t>
            </a:r>
          </a:p>
          <a:p>
            <a:r>
              <a:rPr lang="en-US" dirty="0" err="1"/>
              <a:t>Kalibrace</a:t>
            </a:r>
            <a:r>
              <a:rPr lang="en-US" dirty="0"/>
              <a:t> (masters “dark/flat”) </a:t>
            </a:r>
            <a:r>
              <a:rPr lang="en-US" dirty="0" err="1"/>
              <a:t>podla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Technika</a:t>
            </a:r>
            <a:r>
              <a:rPr lang="en-US" dirty="0"/>
              <a:t> –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</a:rPr>
              <a:t>Scaning</a:t>
            </a:r>
            <a:r>
              <a:rPr lang="en-US" dirty="0"/>
              <a:t> !!!</a:t>
            </a:r>
          </a:p>
          <a:p>
            <a:r>
              <a:rPr lang="en-US" dirty="0"/>
              <a:t>MASTERDARK: </a:t>
            </a:r>
            <a:r>
              <a:rPr lang="en-US" b="1" dirty="0" err="1"/>
              <a:t>cas</a:t>
            </a:r>
            <a:r>
              <a:rPr lang="en-US" b="1" dirty="0"/>
              <a:t>, </a:t>
            </a:r>
            <a:r>
              <a:rPr lang="en-US" b="1" dirty="0" err="1"/>
              <a:t>teplota</a:t>
            </a:r>
            <a:r>
              <a:rPr lang="en-US" b="1" dirty="0"/>
              <a:t>, </a:t>
            </a:r>
            <a:r>
              <a:rPr lang="en-US" dirty="0"/>
              <a:t>binning preferovane1x1 (2x2,3x3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mozem</a:t>
            </a:r>
            <a:r>
              <a:rPr lang="en-US" dirty="0"/>
              <a:t> </a:t>
            </a:r>
            <a:r>
              <a:rPr lang="en-US" dirty="0" err="1"/>
              <a:t>kedykolvek</a:t>
            </a:r>
            <a:r>
              <a:rPr lang="en-US" dirty="0"/>
              <a:t> </a:t>
            </a:r>
            <a:r>
              <a:rPr lang="en-US" dirty="0" err="1"/>
              <a:t>vyrobit</a:t>
            </a:r>
            <a:r>
              <a:rPr lang="en-US" dirty="0"/>
              <a:t> z 1x1)</a:t>
            </a:r>
          </a:p>
          <a:p>
            <a:r>
              <a:rPr lang="en-US" dirty="0"/>
              <a:t>MASTERFLAT: </a:t>
            </a:r>
            <a:r>
              <a:rPr lang="en-US" b="1" dirty="0" err="1"/>
              <a:t>technika</a:t>
            </a:r>
            <a:r>
              <a:rPr lang="en-US" b="1" dirty="0"/>
              <a:t>, filter,</a:t>
            </a:r>
            <a:r>
              <a:rPr lang="en-US" dirty="0"/>
              <a:t> binning </a:t>
            </a:r>
            <a:r>
              <a:rPr lang="en-US" dirty="0" err="1"/>
              <a:t>preferovane</a:t>
            </a:r>
            <a:r>
              <a:rPr lang="en-US" dirty="0"/>
              <a:t> 1x1 (2x2,3x3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mozem</a:t>
            </a:r>
            <a:r>
              <a:rPr lang="en-US" dirty="0"/>
              <a:t> </a:t>
            </a:r>
            <a:r>
              <a:rPr lang="en-US" dirty="0" err="1"/>
              <a:t>kedykolvek</a:t>
            </a:r>
            <a:r>
              <a:rPr lang="en-US" dirty="0"/>
              <a:t> </a:t>
            </a:r>
            <a:r>
              <a:rPr lang="en-US" dirty="0" err="1"/>
              <a:t>vyrobit</a:t>
            </a:r>
            <a:r>
              <a:rPr lang="en-US" dirty="0"/>
              <a:t> z 1x1)</a:t>
            </a:r>
          </a:p>
          <a:p>
            <a:endParaRPr lang="en-US" dirty="0"/>
          </a:p>
          <a:p>
            <a:r>
              <a:rPr lang="en-US" dirty="0"/>
              <a:t>AK, mam v </a:t>
            </a:r>
            <a:r>
              <a:rPr lang="en-US" dirty="0" err="1"/>
              <a:t>danom</a:t>
            </a:r>
            <a:r>
              <a:rPr lang="en-US" dirty="0"/>
              <a:t> </a:t>
            </a:r>
            <a:r>
              <a:rPr lang="en-US" dirty="0" err="1"/>
              <a:t>pozorovani</a:t>
            </a:r>
            <a:r>
              <a:rPr lang="en-US" dirty="0"/>
              <a:t> </a:t>
            </a:r>
            <a:r>
              <a:rPr lang="en-US" dirty="0" err="1"/>
              <a:t>adresare</a:t>
            </a:r>
            <a:r>
              <a:rPr lang="en-US" dirty="0"/>
              <a:t> \Flat a/</a:t>
            </a:r>
            <a:r>
              <a:rPr lang="en-US" dirty="0" err="1"/>
              <a:t>alebo</a:t>
            </a:r>
            <a:r>
              <a:rPr lang="en-US" dirty="0"/>
              <a:t> \Dark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vytvor</a:t>
            </a:r>
            <a:r>
              <a:rPr lang="en-US" dirty="0"/>
              <a:t> </a:t>
            </a:r>
            <a:r>
              <a:rPr lang="en-US" dirty="0" err="1"/>
              <a:t>nove</a:t>
            </a:r>
            <a:r>
              <a:rPr lang="en-US" dirty="0"/>
              <a:t> masters flat/dark</a:t>
            </a:r>
          </a:p>
          <a:p>
            <a:r>
              <a:rPr lang="en-US" dirty="0"/>
              <a:t>a </a:t>
            </a:r>
            <a:r>
              <a:rPr lang="en-US" dirty="0" err="1"/>
              <a:t>nahraj</a:t>
            </a:r>
            <a:r>
              <a:rPr lang="en-US" dirty="0"/>
              <a:t> ich do </a:t>
            </a:r>
            <a:r>
              <a:rPr lang="en-US" dirty="0" err="1"/>
              <a:t>CalibrationLibrary</a:t>
            </a:r>
            <a:r>
              <a:rPr lang="en-US" dirty="0"/>
              <a:t> folder (</a:t>
            </a:r>
            <a:r>
              <a:rPr lang="en-US" dirty="0" err="1"/>
              <a:t>priklad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Calibration library folder (</a:t>
            </a:r>
            <a:r>
              <a:rPr lang="en-US" dirty="0" err="1"/>
              <a:t>ukladaju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masters dark/flat, validity of the files:</a:t>
            </a:r>
            <a:br>
              <a:rPr lang="en-US" dirty="0"/>
            </a:br>
            <a:r>
              <a:rPr lang="en-US" dirty="0" err="1"/>
              <a:t>masterdarks</a:t>
            </a:r>
            <a:r>
              <a:rPr lang="en-US" dirty="0"/>
              <a:t> (60days), </a:t>
            </a:r>
            <a:r>
              <a:rPr lang="en-US" dirty="0" err="1"/>
              <a:t>masterflats</a:t>
            </a:r>
            <a:r>
              <a:rPr lang="en-US" dirty="0"/>
              <a:t>(300days) *</a:t>
            </a:r>
            <a:r>
              <a:rPr lang="en-US" dirty="0" err="1"/>
              <a:t>sucast</a:t>
            </a:r>
            <a:r>
              <a:rPr lang="en-US" dirty="0"/>
              <a:t> Settings (</a:t>
            </a:r>
            <a:r>
              <a:rPr lang="en-US" b="1" dirty="0"/>
              <a:t>Calibration Validity</a:t>
            </a:r>
            <a:r>
              <a:rPr lang="en-US" dirty="0"/>
              <a:t>)</a:t>
            </a:r>
          </a:p>
          <a:p>
            <a:r>
              <a:rPr lang="en-US" dirty="0" err="1"/>
              <a:t>Vzdy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robi</a:t>
            </a:r>
            <a:r>
              <a:rPr lang="en-US" dirty="0"/>
              <a:t> </a:t>
            </a:r>
            <a:r>
              <a:rPr lang="en-US" dirty="0" err="1"/>
              <a:t>kontrola</a:t>
            </a:r>
            <a:r>
              <a:rPr lang="en-US" dirty="0"/>
              <a:t> masters darks/flats </a:t>
            </a:r>
            <a:r>
              <a:rPr lang="en-US" dirty="0" err="1"/>
              <a:t>oproti</a:t>
            </a:r>
            <a:r>
              <a:rPr lang="en-US" dirty="0"/>
              <a:t> fits </a:t>
            </a:r>
            <a:r>
              <a:rPr lang="en-US" dirty="0" err="1"/>
              <a:t>hlavicke</a:t>
            </a:r>
            <a:r>
              <a:rPr lang="en-US" dirty="0"/>
              <a:t> (raw light </a:t>
            </a:r>
            <a:r>
              <a:rPr lang="en-US" dirty="0" err="1"/>
              <a:t>snimku</a:t>
            </a:r>
            <a:r>
              <a:rPr lang="en-US" dirty="0"/>
              <a:t>), </a:t>
            </a:r>
            <a:r>
              <a:rPr lang="en-US" dirty="0" err="1"/>
              <a:t>validita</a:t>
            </a:r>
            <a:r>
              <a:rPr lang="en-US" dirty="0"/>
              <a:t> je </a:t>
            </a:r>
            <a:r>
              <a:rPr lang="en-US" dirty="0" err="1"/>
              <a:t>cas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 err="1"/>
              <a:t>kedy</a:t>
            </a:r>
            <a:r>
              <a:rPr lang="en-US" dirty="0"/>
              <a:t> </a:t>
            </a:r>
            <a:r>
              <a:rPr lang="en-US" dirty="0" err="1"/>
              <a:t>boli</a:t>
            </a:r>
            <a:r>
              <a:rPr lang="en-US" dirty="0"/>
              <a:t> </a:t>
            </a:r>
            <a:r>
              <a:rPr lang="en-US" dirty="0" err="1"/>
              <a:t>jednotlive</a:t>
            </a:r>
            <a:r>
              <a:rPr lang="en-US" dirty="0"/>
              <a:t> darks a flats </a:t>
            </a:r>
            <a:r>
              <a:rPr lang="en-US" dirty="0" err="1"/>
              <a:t>vytvorene</a:t>
            </a:r>
            <a:r>
              <a:rPr lang="en-US" dirty="0"/>
              <a:t> “</a:t>
            </a:r>
            <a:r>
              <a:rPr lang="en-US" dirty="0" err="1"/>
              <a:t>hlavicka</a:t>
            </a:r>
            <a:r>
              <a:rPr lang="en-US" dirty="0"/>
              <a:t> fits” -&gt; masters dark/flat (</a:t>
            </a:r>
            <a:r>
              <a:rPr lang="en-US" dirty="0" err="1"/>
              <a:t>casova</a:t>
            </a:r>
            <a:r>
              <a:rPr lang="en-US" dirty="0"/>
              <a:t> </a:t>
            </a:r>
            <a:r>
              <a:rPr lang="en-US" dirty="0" err="1"/>
              <a:t>informace</a:t>
            </a:r>
            <a:r>
              <a:rPr lang="en-US" dirty="0"/>
              <a:t> by mala </a:t>
            </a:r>
            <a:r>
              <a:rPr lang="en-US" dirty="0" err="1"/>
              <a:t>byt</a:t>
            </a:r>
            <a:r>
              <a:rPr lang="en-US" dirty="0"/>
              <a:t> </a:t>
            </a:r>
            <a:r>
              <a:rPr lang="en-US" dirty="0" err="1"/>
              <a:t>stejna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VYVAR </a:t>
            </a:r>
            <a:r>
              <a:rPr lang="en-US" dirty="0" err="1"/>
              <a:t>tiez</a:t>
            </a:r>
            <a:r>
              <a:rPr lang="en-US" dirty="0"/>
              <a:t> </a:t>
            </a:r>
            <a:r>
              <a:rPr lang="en-US" dirty="0" err="1"/>
              <a:t>musi</a:t>
            </a:r>
            <a:r>
              <a:rPr lang="en-US" dirty="0"/>
              <a:t> </a:t>
            </a:r>
            <a:r>
              <a:rPr lang="en-US" dirty="0" err="1"/>
              <a:t>povolit</a:t>
            </a:r>
            <a:r>
              <a:rPr lang="en-US" dirty="0"/>
              <a:t> a </a:t>
            </a:r>
            <a:r>
              <a:rPr lang="en-US" dirty="0" err="1"/>
              <a:t>zpracovavat</a:t>
            </a:r>
            <a:r>
              <a:rPr lang="en-US" dirty="0"/>
              <a:t> light </a:t>
            </a:r>
            <a:r>
              <a:rPr lang="en-US" dirty="0" err="1"/>
              <a:t>snimky</a:t>
            </a:r>
            <a:r>
              <a:rPr lang="en-US" dirty="0"/>
              <a:t> pre </a:t>
            </a:r>
            <a:r>
              <a:rPr lang="en-US" dirty="0" err="1"/>
              <a:t>ktore</a:t>
            </a:r>
            <a:r>
              <a:rPr lang="en-US" dirty="0"/>
              <a:t> </a:t>
            </a:r>
            <a:r>
              <a:rPr lang="en-US" dirty="0" err="1"/>
              <a:t>neexistuje</a:t>
            </a:r>
            <a:r>
              <a:rPr lang="en-US" dirty="0"/>
              <a:t> masters dark/flat:</a:t>
            </a:r>
          </a:p>
          <a:p>
            <a:r>
              <a:rPr lang="en-US" dirty="0" err="1"/>
              <a:t>Neexistuje</a:t>
            </a:r>
            <a:r>
              <a:rPr lang="en-US" dirty="0"/>
              <a:t> masters v </a:t>
            </a:r>
            <a:r>
              <a:rPr lang="en-US" dirty="0" err="1"/>
              <a:t>CalibrationLibrary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/>
              <a:t>neexistuju</a:t>
            </a:r>
            <a:r>
              <a:rPr lang="en-US" dirty="0"/>
              <a:t> \Flat a/</a:t>
            </a:r>
            <a:r>
              <a:rPr lang="en-US" dirty="0" err="1"/>
              <a:t>alebo</a:t>
            </a:r>
            <a:r>
              <a:rPr lang="en-US" dirty="0"/>
              <a:t> \Dark </a:t>
            </a:r>
            <a:r>
              <a:rPr lang="en-US" dirty="0" err="1"/>
              <a:t>podadresare</a:t>
            </a:r>
            <a:r>
              <a:rPr lang="en-US" dirty="0"/>
              <a:t> &lt;</a:t>
            </a:r>
            <a:r>
              <a:rPr lang="en-US" dirty="0" err="1"/>
              <a:t>merania</a:t>
            </a:r>
            <a:r>
              <a:rPr lang="en-US" dirty="0"/>
              <a:t> “bet Per”&gt;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A324C2-98E7-5B5D-036C-3BFA68A1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57" y="2852968"/>
            <a:ext cx="5348614" cy="13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352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2B9F7-6B44-6F7A-9E6B-D7F4529A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FF39FE-4F23-5091-8BB1-818258190BDB}"/>
              </a:ext>
            </a:extLst>
          </p:cNvPr>
          <p:cNvSpPr txBox="1"/>
          <p:nvPr/>
        </p:nvSpPr>
        <p:spPr>
          <a:xfrm>
            <a:off x="391886" y="385665"/>
            <a:ext cx="4962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Toto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mame</a:t>
            </a:r>
            <a:r>
              <a:rPr lang="en-US" dirty="0"/>
              <a:t> </a:t>
            </a:r>
            <a:r>
              <a:rPr lang="en-US" dirty="0" err="1"/>
              <a:t>implementovane</a:t>
            </a:r>
            <a:r>
              <a:rPr lang="en-US" dirty="0"/>
              <a:t> a </a:t>
            </a:r>
            <a:r>
              <a:rPr lang="en-US" dirty="0" err="1"/>
              <a:t>mne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to </a:t>
            </a:r>
            <a:r>
              <a:rPr lang="en-US" dirty="0" err="1"/>
              <a:t>paci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0A5E7-9E42-B85A-65C8-FE0AB197E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92" y="754997"/>
            <a:ext cx="8152108" cy="15748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0860D9-FA66-9173-10C6-7857465582C7}"/>
              </a:ext>
            </a:extLst>
          </p:cNvPr>
          <p:cNvSpPr txBox="1"/>
          <p:nvPr/>
        </p:nvSpPr>
        <p:spPr>
          <a:xfrm>
            <a:off x="444689" y="2361499"/>
            <a:ext cx="4856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Nacitam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cestu</a:t>
            </a:r>
            <a:r>
              <a:rPr lang="en-US" dirty="0"/>
              <a:t> </a:t>
            </a:r>
            <a:r>
              <a:rPr lang="en-US" dirty="0" err="1"/>
              <a:t>kde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ulozene</a:t>
            </a:r>
            <a:r>
              <a:rPr lang="en-US" dirty="0"/>
              <a:t> Light raw data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E19EF1-CE72-4625-D9EB-0062621F5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92" y="2762494"/>
            <a:ext cx="6605599" cy="37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8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4C84A-9B2C-CC37-CCF4-DB572D0E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0ED86-C977-D064-0BCD-AD56889A1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" y="1408966"/>
            <a:ext cx="8610600" cy="4337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DB57DB-D56D-FB65-D531-129135FAA4BE}"/>
              </a:ext>
            </a:extLst>
          </p:cNvPr>
          <p:cNvSpPr txBox="1"/>
          <p:nvPr/>
        </p:nvSpPr>
        <p:spPr>
          <a:xfrm>
            <a:off x="421195" y="368639"/>
            <a:ext cx="7862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Mam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moznost</a:t>
            </a:r>
            <a:r>
              <a:rPr lang="en-US" dirty="0"/>
              <a:t> </a:t>
            </a:r>
            <a:r>
              <a:rPr lang="en-US" dirty="0" err="1"/>
              <a:t>vidiet</a:t>
            </a:r>
            <a:r>
              <a:rPr lang="en-US" dirty="0"/>
              <a:t> ci mam </a:t>
            </a:r>
            <a:r>
              <a:rPr lang="en-US" dirty="0" err="1"/>
              <a:t>aktualne</a:t>
            </a:r>
            <a:r>
              <a:rPr lang="en-US" dirty="0"/>
              <a:t> masters dark/flat v </a:t>
            </a:r>
            <a:r>
              <a:rPr lang="en-US" dirty="0" err="1"/>
              <a:t>CalibrationLibrary</a:t>
            </a:r>
            <a:br>
              <a:rPr lang="en-US" dirty="0"/>
            </a:b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ich </a:t>
            </a:r>
            <a:r>
              <a:rPr lang="en-US" dirty="0" err="1"/>
              <a:t>mozem</a:t>
            </a:r>
            <a:r>
              <a:rPr lang="en-US" dirty="0"/>
              <a:t> </a:t>
            </a:r>
            <a:r>
              <a:rPr lang="en-US" dirty="0" err="1"/>
              <a:t>vyrobit</a:t>
            </a:r>
            <a:r>
              <a:rPr lang="en-US" dirty="0"/>
              <a:t> “ze to </a:t>
            </a:r>
            <a:r>
              <a:rPr lang="en-US" dirty="0" err="1"/>
              <a:t>tlacitko</a:t>
            </a:r>
            <a:r>
              <a:rPr lang="en-US" dirty="0"/>
              <a:t> Generate &amp; Archive Masters” </a:t>
            </a:r>
          </a:p>
          <a:p>
            <a:r>
              <a:rPr lang="en-US" dirty="0" err="1"/>
              <a:t>lebo</a:t>
            </a:r>
            <a:r>
              <a:rPr lang="en-US" dirty="0"/>
              <a:t> mam \Dark a/</a:t>
            </a:r>
            <a:r>
              <a:rPr lang="en-US" dirty="0" err="1"/>
              <a:t>alebo</a:t>
            </a:r>
            <a:r>
              <a:rPr lang="en-US" dirty="0"/>
              <a:t> \Flat </a:t>
            </a:r>
            <a:r>
              <a:rPr lang="en-US" dirty="0" err="1"/>
              <a:t>podadresare</a:t>
            </a:r>
            <a:r>
              <a:rPr lang="en-US" dirty="0"/>
              <a:t> v </a:t>
            </a:r>
            <a:r>
              <a:rPr lang="en-US" dirty="0" err="1"/>
              <a:t>nacitanom</a:t>
            </a:r>
            <a:r>
              <a:rPr lang="en-US" dirty="0"/>
              <a:t> </a:t>
            </a:r>
            <a:r>
              <a:rPr lang="en-US" dirty="0" err="1"/>
              <a:t>pozorovani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3C655-D207-4A4B-EA49-304415D9BD5C}"/>
              </a:ext>
            </a:extLst>
          </p:cNvPr>
          <p:cNvSpPr txBox="1"/>
          <p:nvPr/>
        </p:nvSpPr>
        <p:spPr>
          <a:xfrm>
            <a:off x="355120" y="5863482"/>
            <a:ext cx="7356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Archive &amp; Do Calibration – </a:t>
            </a:r>
            <a:r>
              <a:rPr lang="en-US" dirty="0" err="1"/>
              <a:t>aplikujem</a:t>
            </a:r>
            <a:r>
              <a:rPr lang="en-US" dirty="0"/>
              <a:t> masters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surove</a:t>
            </a:r>
            <a:r>
              <a:rPr lang="en-US" dirty="0"/>
              <a:t> lights</a:t>
            </a:r>
          </a:p>
          <a:p>
            <a:r>
              <a:rPr lang="en-US" dirty="0" err="1"/>
              <a:t>Vytvori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adresar</a:t>
            </a:r>
            <a:r>
              <a:rPr lang="en-US" dirty="0"/>
              <a:t> \calibrated\light\&lt;scanning settings&gt; - </a:t>
            </a:r>
            <a:r>
              <a:rPr lang="en-US" dirty="0" err="1"/>
              <a:t>tych</a:t>
            </a:r>
            <a:r>
              <a:rPr lang="en-US" dirty="0"/>
              <a:t> </a:t>
            </a:r>
            <a:r>
              <a:rPr lang="en-US" dirty="0" err="1"/>
              <a:t>moze</a:t>
            </a:r>
            <a:r>
              <a:rPr lang="en-US" dirty="0"/>
              <a:t> </a:t>
            </a:r>
            <a:r>
              <a:rPr lang="en-US" dirty="0" err="1"/>
              <a:t>byt</a:t>
            </a:r>
            <a:r>
              <a:rPr lang="en-US" dirty="0"/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46523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3C5E-FCA2-40D5-2730-54CBD832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D5A4F-CF95-8A20-1DFD-8F5251AE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18C75E-0793-9297-E9A5-CE94B7D4FFBC}"/>
              </a:ext>
            </a:extLst>
          </p:cNvPr>
          <p:cNvSpPr txBox="1"/>
          <p:nvPr/>
        </p:nvSpPr>
        <p:spPr>
          <a:xfrm>
            <a:off x="200415" y="208131"/>
            <a:ext cx="11884472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Analyza</a:t>
            </a:r>
            <a:r>
              <a:rPr lang="en-US" sz="3200" b="1" dirty="0"/>
              <a:t> “Pre-processing &amp; Detrending”(</a:t>
            </a:r>
            <a:r>
              <a:rPr lang="en-US" sz="3200" b="1" dirty="0" err="1"/>
              <a:t>krok</a:t>
            </a:r>
            <a:r>
              <a:rPr lang="en-US" sz="3200" b="1" dirty="0"/>
              <a:t> 2), </a:t>
            </a:r>
          </a:p>
          <a:p>
            <a:r>
              <a:rPr lang="en-US" sz="3200" b="1" dirty="0" err="1"/>
              <a:t>tento</a:t>
            </a:r>
            <a:r>
              <a:rPr lang="en-US" sz="3200" b="1" dirty="0"/>
              <a:t> </a:t>
            </a:r>
            <a:r>
              <a:rPr lang="en-US" sz="3200" b="1" dirty="0" err="1"/>
              <a:t>krok</a:t>
            </a:r>
            <a:r>
              <a:rPr lang="en-US" sz="3200" b="1" dirty="0"/>
              <a:t> je </a:t>
            </a:r>
            <a:r>
              <a:rPr lang="en-US" sz="3200" b="1" dirty="0" err="1"/>
              <a:t>dvojfazovy</a:t>
            </a:r>
            <a:endParaRPr lang="en-US" sz="3200" b="1" dirty="0"/>
          </a:p>
          <a:p>
            <a:r>
              <a:rPr lang="en-US" sz="1200" dirty="0"/>
              <a:t>Runs on </a:t>
            </a:r>
            <a:r>
              <a:rPr lang="en-US" sz="1200" dirty="0">
                <a:highlight>
                  <a:srgbClr val="00FFFF"/>
                </a:highlight>
              </a:rPr>
              <a:t>\calibrated\light\&lt;</a:t>
            </a:r>
            <a:r>
              <a:rPr lang="en-US" sz="1200" dirty="0" err="1">
                <a:highlight>
                  <a:srgbClr val="00FFFF"/>
                </a:highlight>
              </a:rPr>
              <a:t>scaning</a:t>
            </a:r>
            <a:r>
              <a:rPr lang="en-US" sz="1200" dirty="0">
                <a:highlight>
                  <a:srgbClr val="00FFFF"/>
                </a:highlight>
              </a:rPr>
              <a:t> &gt; or \</a:t>
            </a:r>
            <a:r>
              <a:rPr lang="en-US" sz="1200" dirty="0" err="1">
                <a:highlight>
                  <a:srgbClr val="00FFFF"/>
                </a:highlight>
              </a:rPr>
              <a:t>noncalibated</a:t>
            </a:r>
            <a:r>
              <a:rPr lang="en-US" sz="1200" dirty="0">
                <a:highlight>
                  <a:srgbClr val="00FFFF"/>
                </a:highlight>
              </a:rPr>
              <a:t> light\&lt;</a:t>
            </a:r>
            <a:r>
              <a:rPr lang="en-US" sz="1200" dirty="0" err="1">
                <a:highlight>
                  <a:srgbClr val="00FFFF"/>
                </a:highlight>
              </a:rPr>
              <a:t>scaning</a:t>
            </a:r>
            <a:r>
              <a:rPr lang="en-US" sz="1200" dirty="0">
                <a:highlight>
                  <a:srgbClr val="00FFFF"/>
                </a:highlight>
              </a:rPr>
              <a:t> &gt; </a:t>
            </a:r>
            <a:r>
              <a:rPr lang="en-US" sz="1200" dirty="0"/>
              <a:t>→ writes passing frames to \processed\light\&lt;</a:t>
            </a:r>
            <a:r>
              <a:rPr lang="en-US" sz="1200" dirty="0">
                <a:highlight>
                  <a:srgbClr val="00FFFF"/>
                </a:highlight>
              </a:rPr>
              <a:t>scanning </a:t>
            </a:r>
            <a:r>
              <a:rPr lang="en-US" sz="1200" dirty="0" err="1">
                <a:highlight>
                  <a:srgbClr val="00FFFF"/>
                </a:highlight>
              </a:rPr>
              <a:t>setings</a:t>
            </a:r>
            <a:r>
              <a:rPr lang="en-US" sz="1200" dirty="0"/>
              <a:t>&gt; with proc_ prefix. </a:t>
            </a:r>
            <a:br>
              <a:rPr lang="en-US" sz="1200" b="1" dirty="0"/>
            </a:br>
            <a:r>
              <a:rPr lang="en-US" sz="3200" b="1" dirty="0"/>
              <a:t>a) </a:t>
            </a:r>
            <a:r>
              <a:rPr lang="en-US" sz="3200" b="1" dirty="0" err="1"/>
              <a:t>analyza</a:t>
            </a:r>
            <a:r>
              <a:rPr lang="en-US" sz="3200" b="1" dirty="0"/>
              <a:t> (ne)</a:t>
            </a:r>
            <a:r>
              <a:rPr lang="en-US" sz="3200" b="1" dirty="0" err="1"/>
              <a:t>okalibrovanych</a:t>
            </a:r>
            <a:r>
              <a:rPr lang="en-US" sz="3200" b="1" dirty="0"/>
              <a:t> lights </a:t>
            </a:r>
            <a:r>
              <a:rPr lang="en-US" sz="1200" b="1" dirty="0"/>
              <a:t>(</a:t>
            </a:r>
            <a:r>
              <a:rPr lang="en-US" sz="1200" b="1" dirty="0" err="1"/>
              <a:t>uz</a:t>
            </a:r>
            <a:r>
              <a:rPr lang="en-US" sz="1200" b="1" dirty="0"/>
              <a:t> </a:t>
            </a:r>
            <a:r>
              <a:rPr lang="en-US" sz="1200" b="1" dirty="0" err="1"/>
              <a:t>su</a:t>
            </a:r>
            <a:r>
              <a:rPr lang="en-US" sz="1200" b="1" dirty="0"/>
              <a:t> </a:t>
            </a:r>
            <a:r>
              <a:rPr lang="en-US" sz="1200" b="1" dirty="0" err="1"/>
              <a:t>aplikovane</a:t>
            </a:r>
            <a:r>
              <a:rPr lang="en-US" sz="1200" b="1" dirty="0"/>
              <a:t> masters dark/flat </a:t>
            </a:r>
            <a:r>
              <a:rPr lang="en-US" sz="1200" b="1" dirty="0" err="1"/>
              <a:t>alebo</a:t>
            </a:r>
            <a:r>
              <a:rPr lang="en-US" sz="1200" b="1" dirty="0"/>
              <a:t> </a:t>
            </a:r>
            <a:r>
              <a:rPr lang="en-US" sz="1200" b="1" dirty="0" err="1"/>
              <a:t>nie</a:t>
            </a:r>
            <a:r>
              <a:rPr lang="en-US" sz="1200" b="1" dirty="0"/>
              <a:t>)</a:t>
            </a:r>
            <a:endParaRPr lang="en-US" sz="3200" b="1" dirty="0"/>
          </a:p>
          <a:p>
            <a:r>
              <a:rPr lang="en-US" dirty="0" err="1"/>
              <a:t>Analyzujeme</a:t>
            </a:r>
            <a:r>
              <a:rPr lang="en-US" dirty="0"/>
              <a:t> calibrated </a:t>
            </a:r>
            <a:r>
              <a:rPr lang="en-US" dirty="0" err="1"/>
              <a:t>alebo</a:t>
            </a:r>
            <a:r>
              <a:rPr lang="en-US" dirty="0"/>
              <a:t> noncalibrated lights </a:t>
            </a:r>
            <a:r>
              <a:rPr lang="en-US" dirty="0" err="1"/>
              <a:t>subory</a:t>
            </a:r>
            <a:r>
              <a:rPr lang="en-US" dirty="0"/>
              <a:t>. </a:t>
            </a:r>
          </a:p>
          <a:p>
            <a:r>
              <a:rPr lang="en-US" sz="1200" dirty="0"/>
              <a:t>Default is fully automatic: star detection for QC adapts per frame (threshold sweep, polarity, data-driven PSF guess); </a:t>
            </a:r>
          </a:p>
          <a:p>
            <a:r>
              <a:rPr lang="en-US" sz="1200" dirty="0"/>
              <a:t>frame rejection is off until you set thresholds under Advanced.</a:t>
            </a:r>
          </a:p>
          <a:p>
            <a:endParaRPr lang="en-US" dirty="0"/>
          </a:p>
          <a:p>
            <a:r>
              <a:rPr lang="en-US" dirty="0"/>
              <a:t>Po Analyze (</a:t>
            </a:r>
            <a:r>
              <a:rPr lang="en-US" dirty="0" err="1"/>
              <a:t>faza</a:t>
            </a:r>
            <a:r>
              <a:rPr lang="en-US" dirty="0"/>
              <a:t> 1)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doplnia</a:t>
            </a:r>
            <a:r>
              <a:rPr lang="en-US" dirty="0"/>
              <a:t> </a:t>
            </a:r>
            <a:r>
              <a:rPr lang="en-US" dirty="0" err="1"/>
              <a:t>mediány</a:t>
            </a:r>
            <a:r>
              <a:rPr lang="en-US" dirty="0"/>
              <a:t> FWHM, drift limit a </a:t>
            </a:r>
            <a:r>
              <a:rPr lang="en-US" dirty="0" err="1"/>
              <a:t>poloha</a:t>
            </a:r>
            <a:r>
              <a:rPr lang="en-US" dirty="0"/>
              <a:t> z OBS_FILES. </a:t>
            </a:r>
          </a:p>
          <a:p>
            <a:r>
              <a:rPr lang="en-US" dirty="0"/>
              <a:t>Apply </a:t>
            </a:r>
            <a:r>
              <a:rPr lang="en-US" dirty="0" err="1"/>
              <a:t>používa</a:t>
            </a:r>
            <a:r>
              <a:rPr lang="en-US" dirty="0"/>
              <a:t> </a:t>
            </a:r>
            <a:r>
              <a:rPr lang="en-US" dirty="0" err="1"/>
              <a:t>fwhm_threshold</a:t>
            </a:r>
            <a:r>
              <a:rPr lang="en-US" dirty="0"/>
              <a:t>, </a:t>
            </a:r>
            <a:r>
              <a:rPr lang="en-US" dirty="0" err="1"/>
              <a:t>drift_limit_arcmin</a:t>
            </a:r>
            <a:r>
              <a:rPr lang="en-US" dirty="0"/>
              <a:t>, </a:t>
            </a:r>
            <a:r>
              <a:rPr lang="en-US" dirty="0" err="1"/>
              <a:t>max_roundness_error</a:t>
            </a:r>
            <a:r>
              <a:rPr lang="en-US" dirty="0"/>
              <a:t> (</a:t>
            </a:r>
            <a:r>
              <a:rPr lang="en-US" dirty="0" err="1"/>
              <a:t>faza</a:t>
            </a:r>
            <a:r>
              <a:rPr lang="en-US" dirty="0"/>
              <a:t> 1), </a:t>
            </a:r>
            <a:r>
              <a:rPr lang="en-US" dirty="0" err="1"/>
              <a:t>center_ra</a:t>
            </a:r>
            <a:r>
              <a:rPr lang="en-US" dirty="0"/>
              <a:t>, </a:t>
            </a:r>
            <a:r>
              <a:rPr lang="en-US" dirty="0" err="1"/>
              <a:t>center_de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3200" b="1" dirty="0"/>
              <a:t>b) Apply Calibration &amp; Detrending</a:t>
            </a:r>
          </a:p>
          <a:p>
            <a:r>
              <a:rPr lang="en-US" dirty="0" err="1"/>
              <a:t>Aplikuje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funkce</a:t>
            </a:r>
            <a:r>
              <a:rPr lang="en-US" dirty="0"/>
              <a:t> </a:t>
            </a:r>
            <a:r>
              <a:rPr lang="en-US" dirty="0" err="1"/>
              <a:t>kde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filtruju</a:t>
            </a:r>
            <a:r>
              <a:rPr lang="en-US" dirty="0"/>
              <a:t> </a:t>
            </a:r>
            <a:r>
              <a:rPr lang="en-US" dirty="0" err="1"/>
              <a:t>subory</a:t>
            </a:r>
            <a:r>
              <a:rPr lang="en-US" dirty="0"/>
              <a:t> z </a:t>
            </a:r>
            <a:r>
              <a:rPr lang="en-US" dirty="0">
                <a:highlight>
                  <a:srgbClr val="00FFFF"/>
                </a:highlight>
              </a:rPr>
              <a:t>\calibrated\light\&lt;</a:t>
            </a:r>
            <a:r>
              <a:rPr lang="en-US" dirty="0" err="1">
                <a:highlight>
                  <a:srgbClr val="00FFFF"/>
                </a:highlight>
              </a:rPr>
              <a:t>scaning</a:t>
            </a:r>
            <a:r>
              <a:rPr lang="en-US" dirty="0">
                <a:highlight>
                  <a:srgbClr val="00FFFF"/>
                </a:highlight>
              </a:rPr>
              <a:t> settings&gt; or \</a:t>
            </a:r>
            <a:r>
              <a:rPr lang="en-US" dirty="0" err="1">
                <a:highlight>
                  <a:srgbClr val="00FFFF"/>
                </a:highlight>
              </a:rPr>
              <a:t>noncalibated</a:t>
            </a:r>
            <a:r>
              <a:rPr lang="en-US" dirty="0">
                <a:highlight>
                  <a:srgbClr val="00FFFF"/>
                </a:highlight>
              </a:rPr>
              <a:t> light\&lt;</a:t>
            </a:r>
            <a:r>
              <a:rPr lang="en-US" dirty="0" err="1">
                <a:highlight>
                  <a:srgbClr val="00FFFF"/>
                </a:highlight>
              </a:rPr>
              <a:t>scaning</a:t>
            </a:r>
            <a:r>
              <a:rPr lang="en-US" dirty="0">
                <a:highlight>
                  <a:srgbClr val="00FFFF"/>
                </a:highlight>
              </a:rPr>
              <a:t> settings&gt; </a:t>
            </a:r>
            <a:endParaRPr lang="en-US" dirty="0"/>
          </a:p>
          <a:p>
            <a:r>
              <a:rPr lang="en-US" dirty="0" err="1"/>
              <a:t>podla</a:t>
            </a:r>
            <a:r>
              <a:rPr lang="en-US" dirty="0"/>
              <a:t> median FWMH </a:t>
            </a:r>
            <a:r>
              <a:rPr lang="en-US" dirty="0" err="1"/>
              <a:t>alebo</a:t>
            </a:r>
            <a:r>
              <a:rPr lang="en-US" dirty="0"/>
              <a:t> FWMH </a:t>
            </a:r>
            <a:r>
              <a:rPr lang="en-US" dirty="0" err="1"/>
              <a:t>upravuje</a:t>
            </a:r>
            <a:r>
              <a:rPr lang="en-US" dirty="0"/>
              <a:t> </a:t>
            </a:r>
            <a:r>
              <a:rPr lang="en-US" dirty="0" err="1"/>
              <a:t>uzivatel</a:t>
            </a:r>
            <a:r>
              <a:rPr lang="en-US" dirty="0"/>
              <a:t>, </a:t>
            </a:r>
            <a:r>
              <a:rPr lang="en-US" dirty="0" err="1"/>
              <a:t>upravi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hlavicka</a:t>
            </a:r>
            <a:r>
              <a:rPr lang="en-US" dirty="0"/>
              <a:t> fits o </a:t>
            </a:r>
          </a:p>
          <a:p>
            <a:r>
              <a:rPr lang="en-US" dirty="0"/>
              <a:t>Center RA (deg, ICRS) Center DE (deg, ICRS) “toto je mandatory”, but to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snimok</a:t>
            </a:r>
            <a:r>
              <a:rPr lang="en-US" dirty="0"/>
              <a:t> ma </a:t>
            </a:r>
            <a:r>
              <a:rPr lang="en-US" dirty="0" err="1"/>
              <a:t>alebo</a:t>
            </a:r>
            <a:r>
              <a:rPr lang="en-US" dirty="0"/>
              <a:t> </a:t>
            </a:r>
          </a:p>
          <a:p>
            <a:r>
              <a:rPr lang="en-US" dirty="0" err="1"/>
              <a:t>uzvatel</a:t>
            </a:r>
            <a:r>
              <a:rPr lang="en-US" dirty="0"/>
              <a:t> to </a:t>
            </a:r>
            <a:r>
              <a:rPr lang="en-US" dirty="0" err="1"/>
              <a:t>zada</a:t>
            </a:r>
            <a:r>
              <a:rPr lang="en-US" dirty="0"/>
              <a:t> </a:t>
            </a:r>
            <a:r>
              <a:rPr lang="en-US" dirty="0" err="1"/>
              <a:t>rucne</a:t>
            </a:r>
            <a:r>
              <a:rPr lang="en-US" dirty="0"/>
              <a:t> a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potom</a:t>
            </a:r>
            <a:r>
              <a:rPr lang="en-US" dirty="0"/>
              <a:t> </a:t>
            </a:r>
            <a:r>
              <a:rPr lang="en-US" dirty="0" err="1"/>
              <a:t>moze</a:t>
            </a:r>
            <a:r>
              <a:rPr lang="en-US" dirty="0"/>
              <a:t> </a:t>
            </a:r>
            <a:r>
              <a:rPr lang="en-US" dirty="0" err="1"/>
              <a:t>provest</a:t>
            </a:r>
            <a:r>
              <a:rPr lang="en-US" dirty="0"/>
              <a:t> </a:t>
            </a:r>
            <a:r>
              <a:rPr lang="en-US" b="1" dirty="0"/>
              <a:t>Apply Calibration &amp; Detrending</a:t>
            </a:r>
            <a:br>
              <a:rPr lang="en-US" b="1" dirty="0"/>
            </a:br>
            <a:r>
              <a:rPr lang="en-US" b="1" dirty="0"/>
              <a:t>je </a:t>
            </a:r>
            <a:r>
              <a:rPr lang="en-US" b="1" dirty="0" err="1"/>
              <a:t>vytvoren</a:t>
            </a:r>
            <a:r>
              <a:rPr lang="en-US" b="1" dirty="0"/>
              <a:t> </a:t>
            </a:r>
            <a:r>
              <a:rPr lang="en-US" b="1" dirty="0" err="1"/>
              <a:t>adresar</a:t>
            </a:r>
            <a:r>
              <a:rPr lang="en-US" b="1" dirty="0"/>
              <a:t> \processed\light\&lt;</a:t>
            </a:r>
            <a:r>
              <a:rPr lang="en-US" b="1" dirty="0" err="1"/>
              <a:t>scaning</a:t>
            </a:r>
            <a:r>
              <a:rPr lang="en-US" b="1" dirty="0"/>
              <a:t> settings&gt;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95C20-9E6A-0C1F-E451-C310778CE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Sans"/>
              </a:rPr>
              <a:t>FWHM Limit (px)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91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9EDE6-8B7B-C3C4-A2B8-02C0C674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024F0-7E25-8DE5-4458-A9416AFF425E}"/>
              </a:ext>
            </a:extLst>
          </p:cNvPr>
          <p:cNvSpPr txBox="1"/>
          <p:nvPr/>
        </p:nvSpPr>
        <p:spPr>
          <a:xfrm>
            <a:off x="665583" y="689301"/>
            <a:ext cx="1095569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/>
              <a:t>Masterstar</a:t>
            </a:r>
            <a:r>
              <a:rPr lang="en-US" sz="3200" b="1" dirty="0"/>
              <a:t> Selection &amp; Quality Control (</a:t>
            </a:r>
            <a:r>
              <a:rPr lang="en-US" sz="3200" b="1" dirty="0" err="1"/>
              <a:t>krok</a:t>
            </a:r>
            <a:r>
              <a:rPr lang="en-US" sz="3200" b="1" dirty="0"/>
              <a:t> 3)</a:t>
            </a:r>
          </a:p>
          <a:p>
            <a:endParaRPr lang="en-US" sz="1400" dirty="0"/>
          </a:p>
          <a:p>
            <a:r>
              <a:rPr lang="en-US" sz="1400" dirty="0" err="1"/>
              <a:t>Vyber</a:t>
            </a:r>
            <a:r>
              <a:rPr lang="en-US" sz="1400" dirty="0"/>
              <a:t> </a:t>
            </a:r>
            <a:r>
              <a:rPr lang="en-US" sz="1400" dirty="0" err="1"/>
              <a:t>snimku</a:t>
            </a:r>
            <a:r>
              <a:rPr lang="en-US" sz="1400" dirty="0"/>
              <a:t> (4-10)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tvorku</a:t>
            </a:r>
            <a:r>
              <a:rPr lang="en-US" sz="1400" dirty="0"/>
              <a:t> MASTERSTARS fits, </a:t>
            </a:r>
            <a:r>
              <a:rPr lang="en-US" sz="1400" dirty="0" err="1"/>
              <a:t>tento</a:t>
            </a:r>
            <a:r>
              <a:rPr lang="en-US" sz="1400" dirty="0"/>
              <a:t> </a:t>
            </a:r>
            <a:r>
              <a:rPr lang="en-US" sz="1400" dirty="0" err="1"/>
              <a:t>krok</a:t>
            </a:r>
            <a:r>
              <a:rPr lang="en-US" sz="1400" dirty="0"/>
              <a:t> </a:t>
            </a:r>
            <a:r>
              <a:rPr lang="en-US" sz="1400" dirty="0" err="1"/>
              <a:t>obsahuje</a:t>
            </a:r>
            <a:r>
              <a:rPr lang="en-US" sz="1400" dirty="0"/>
              <a:t> </a:t>
            </a:r>
            <a:r>
              <a:rPr lang="en-US" sz="1400" dirty="0" err="1"/>
              <a:t>len</a:t>
            </a:r>
            <a:r>
              <a:rPr lang="en-US" sz="1400" dirty="0"/>
              <a:t> slider </a:t>
            </a:r>
            <a:r>
              <a:rPr lang="en-US" sz="1400" dirty="0" err="1"/>
              <a:t>kde</a:t>
            </a:r>
            <a:r>
              <a:rPr lang="en-US" sz="1400" dirty="0"/>
              <a:t>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vybera</a:t>
            </a:r>
            <a:r>
              <a:rPr lang="en-US" sz="1400" dirty="0"/>
              <a:t> </a:t>
            </a:r>
            <a:r>
              <a:rPr lang="en-US" sz="1400" dirty="0" err="1"/>
              <a:t>pocet</a:t>
            </a:r>
            <a:r>
              <a:rPr lang="en-US" sz="1400" dirty="0"/>
              <a:t> </a:t>
            </a:r>
            <a:r>
              <a:rPr lang="en-US" sz="1400" dirty="0" err="1"/>
              <a:t>snimku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MASTERSTARS </a:t>
            </a:r>
            <a:r>
              <a:rPr lang="en-US" sz="1400" dirty="0" err="1"/>
              <a:t>snimok</a:t>
            </a:r>
            <a:endParaRPr lang="en-US" sz="1400" dirty="0"/>
          </a:p>
          <a:p>
            <a:endParaRPr lang="en-US" sz="1400" dirty="0"/>
          </a:p>
          <a:p>
            <a:endParaRPr lang="en-US" b="1" dirty="0"/>
          </a:p>
          <a:p>
            <a:r>
              <a:rPr lang="en-US" sz="3200" b="1" dirty="0"/>
              <a:t>Plate Solving &amp; Star Catalog (</a:t>
            </a:r>
            <a:r>
              <a:rPr lang="en-US" sz="3200" b="1" dirty="0" err="1"/>
              <a:t>krok</a:t>
            </a:r>
            <a:r>
              <a:rPr lang="en-US" sz="3200" b="1" dirty="0"/>
              <a:t> 4) </a:t>
            </a:r>
            <a:r>
              <a:rPr lang="en-US" b="1" dirty="0" err="1"/>
              <a:t>tento</a:t>
            </a:r>
            <a:r>
              <a:rPr lang="en-US" b="1" dirty="0"/>
              <a:t> </a:t>
            </a:r>
            <a:r>
              <a:rPr lang="en-US" b="1" dirty="0" err="1"/>
              <a:t>krok</a:t>
            </a:r>
            <a:r>
              <a:rPr lang="en-US" b="1" dirty="0"/>
              <a:t> je </a:t>
            </a:r>
            <a:r>
              <a:rPr lang="en-US" b="1" dirty="0" err="1"/>
              <a:t>dvojfazovy</a:t>
            </a:r>
            <a:r>
              <a:rPr lang="en-US" b="1" dirty="0"/>
              <a:t> v </a:t>
            </a:r>
            <a:r>
              <a:rPr lang="en-US" b="1" dirty="0" err="1"/>
              <a:t>tomto</a:t>
            </a:r>
            <a:r>
              <a:rPr lang="en-US" b="1" dirty="0"/>
              <a:t> </a:t>
            </a:r>
            <a:r>
              <a:rPr lang="en-US" b="1" dirty="0" err="1"/>
              <a:t>momente</a:t>
            </a:r>
            <a:r>
              <a:rPr lang="en-US" b="1" dirty="0"/>
              <a:t> </a:t>
            </a:r>
            <a:r>
              <a:rPr lang="en-US" sz="1200" b="1" dirty="0"/>
              <a:t>VYVAR plate solve (</a:t>
            </a:r>
            <a:r>
              <a:rPr lang="en-US" sz="1200" b="1" dirty="0" err="1"/>
              <a:t>lokálna</a:t>
            </a:r>
            <a:r>
              <a:rPr lang="en-US" sz="1200" b="1" dirty="0"/>
              <a:t> Gaia DR3), </a:t>
            </a:r>
            <a:r>
              <a:rPr lang="en-US" sz="1200" b="1" dirty="0" err="1"/>
              <a:t>zarovnanie</a:t>
            </a:r>
            <a:r>
              <a:rPr lang="en-US" sz="1200" b="1" dirty="0"/>
              <a:t>, sidecar CSV v </a:t>
            </a:r>
            <a:r>
              <a:rPr lang="en-US" sz="1200" b="1" dirty="0" err="1"/>
              <a:t>detrended_aligned</a:t>
            </a:r>
            <a:r>
              <a:rPr lang="en-US" sz="1200" b="1" dirty="0"/>
              <a:t>/lights/. </a:t>
            </a:r>
            <a:r>
              <a:rPr lang="en-US" sz="1200" b="1" dirty="0" err="1"/>
              <a:t>Generuje</a:t>
            </a:r>
            <a:r>
              <a:rPr lang="en-US" sz="1200" b="1" dirty="0"/>
              <a:t> </a:t>
            </a:r>
            <a:r>
              <a:rPr lang="en-US" sz="1200" b="1" dirty="0" err="1"/>
              <a:t>referenčný</a:t>
            </a:r>
            <a:r>
              <a:rPr lang="en-US" sz="1200" b="1" dirty="0"/>
              <a:t> </a:t>
            </a:r>
            <a:r>
              <a:rPr lang="en-US" sz="1200" b="1" dirty="0" err="1"/>
              <a:t>MASTERSTARS.fits</a:t>
            </a:r>
            <a:r>
              <a:rPr lang="en-US" sz="1200" b="1" dirty="0"/>
              <a:t> zo </a:t>
            </a:r>
            <a:r>
              <a:rPr lang="en-US" sz="1200" b="1" dirty="0" err="1"/>
              <a:t>súborov</a:t>
            </a:r>
            <a:r>
              <a:rPr lang="en-US" sz="1200" b="1" dirty="0"/>
              <a:t> </a:t>
            </a:r>
            <a:r>
              <a:rPr lang="en-US" sz="1200" b="1" dirty="0" err="1"/>
              <a:t>vybraných</a:t>
            </a:r>
            <a:r>
              <a:rPr lang="en-US" sz="1200" b="1" dirty="0"/>
              <a:t> v </a:t>
            </a:r>
            <a:r>
              <a:rPr lang="en-US" sz="1200" b="1" dirty="0" err="1"/>
              <a:t>sekcii</a:t>
            </a:r>
            <a:r>
              <a:rPr lang="en-US" sz="1200" b="1" dirty="0"/>
              <a:t> </a:t>
            </a:r>
            <a:r>
              <a:rPr lang="en-US" sz="1200" b="1" dirty="0" err="1"/>
              <a:t>Masterstar</a:t>
            </a:r>
            <a:r>
              <a:rPr lang="en-US" sz="1200" b="1" dirty="0"/>
              <a:t> Selection &amp; Quality Control. </a:t>
            </a:r>
            <a:r>
              <a:rPr lang="en-US" sz="1200" b="1" dirty="0" err="1"/>
              <a:t>Potrebuje</a:t>
            </a:r>
            <a:r>
              <a:rPr lang="en-US" sz="1200" b="1" dirty="0"/>
              <a:t> FOV a RA/Dec. Auto</a:t>
            </a:r>
            <a:r>
              <a:rPr lang="en-US" sz="1200" b="1" dirty="0">
                <a:highlight>
                  <a:srgbClr val="FF0000"/>
                </a:highlight>
              </a:rPr>
              <a:t>: </a:t>
            </a:r>
            <a:r>
              <a:rPr lang="en-US" sz="1200" b="1" dirty="0" err="1">
                <a:highlight>
                  <a:srgbClr val="FF0000"/>
                </a:highlight>
              </a:rPr>
              <a:t>ak</a:t>
            </a:r>
            <a:r>
              <a:rPr lang="en-US" sz="1200" b="1" dirty="0">
                <a:highlight>
                  <a:srgbClr val="FF0000"/>
                </a:highlight>
              </a:rPr>
              <a:t> VYVAR </a:t>
            </a:r>
            <a:r>
              <a:rPr lang="en-US" sz="1200" b="1" dirty="0" err="1">
                <a:highlight>
                  <a:srgbClr val="FF0000"/>
                </a:highlight>
              </a:rPr>
              <a:t>zlyhá</a:t>
            </a:r>
            <a:r>
              <a:rPr lang="en-US" sz="1200" b="1" dirty="0">
                <a:highlight>
                  <a:srgbClr val="FF0000"/>
                </a:highlight>
              </a:rPr>
              <a:t>, Astrometry.net (API </a:t>
            </a:r>
            <a:r>
              <a:rPr lang="en-US" sz="1200" b="1" dirty="0" err="1">
                <a:highlight>
                  <a:srgbClr val="FF0000"/>
                </a:highlight>
              </a:rPr>
              <a:t>kľúč</a:t>
            </a:r>
            <a:r>
              <a:rPr lang="en-US" sz="1200" b="1" dirty="0">
                <a:highlight>
                  <a:srgbClr val="FF0000"/>
                </a:highlight>
              </a:rPr>
              <a:t> </a:t>
            </a:r>
            <a:r>
              <a:rPr lang="en-US" sz="1200" b="1" dirty="0" err="1">
                <a:highlight>
                  <a:srgbClr val="FF0000"/>
                </a:highlight>
              </a:rPr>
              <a:t>neskôr</a:t>
            </a:r>
            <a:r>
              <a:rPr lang="en-US" sz="1200" b="1" dirty="0">
                <a:highlight>
                  <a:srgbClr val="FF0000"/>
                </a:highlight>
              </a:rPr>
              <a:t>).</a:t>
            </a:r>
          </a:p>
          <a:p>
            <a:endParaRPr lang="en-US" b="1" dirty="0"/>
          </a:p>
          <a:p>
            <a:r>
              <a:rPr lang="en-US" b="1" dirty="0" err="1"/>
              <a:t>Faza</a:t>
            </a:r>
            <a:r>
              <a:rPr lang="en-US" b="1" dirty="0"/>
              <a:t> 1 – Plate Solving </a:t>
            </a:r>
            <a:r>
              <a:rPr lang="en-US" b="1" dirty="0" err="1"/>
              <a:t>MASTERSTARS.fits</a:t>
            </a:r>
            <a:r>
              <a:rPr lang="en-US" b="1" dirty="0"/>
              <a:t> </a:t>
            </a:r>
            <a:r>
              <a:rPr lang="en-US" b="1" dirty="0" err="1"/>
              <a:t>suboru</a:t>
            </a:r>
            <a:r>
              <a:rPr lang="en-US" sz="1400" dirty="0"/>
              <a:t>, ten je </a:t>
            </a:r>
            <a:r>
              <a:rPr lang="en-US" sz="1400" dirty="0" err="1"/>
              <a:t>generovan</a:t>
            </a:r>
            <a:r>
              <a:rPr lang="en-US" sz="1400" dirty="0"/>
              <a:t> v </a:t>
            </a:r>
            <a:r>
              <a:rPr lang="en-US" sz="1400" dirty="0" err="1"/>
              <a:t>adresasry</a:t>
            </a:r>
            <a:r>
              <a:rPr lang="en-US" sz="1400" dirty="0"/>
              <a:t> \</a:t>
            </a:r>
            <a:r>
              <a:rPr lang="en-US" sz="1400" dirty="0" err="1"/>
              <a:t>platesolving</a:t>
            </a:r>
            <a:endParaRPr lang="en-US" sz="1400" dirty="0"/>
          </a:p>
          <a:p>
            <a:r>
              <a:rPr lang="en-US" sz="1400" dirty="0" err="1"/>
              <a:t>Ukladaju</a:t>
            </a:r>
            <a:r>
              <a:rPr lang="en-US" sz="1400" dirty="0"/>
              <a:t> </a:t>
            </a:r>
            <a:r>
              <a:rPr lang="en-US" sz="1400" dirty="0" err="1"/>
              <a:t>sa</a:t>
            </a:r>
            <a:r>
              <a:rPr lang="en-US" sz="1400" dirty="0"/>
              <a:t> tam </a:t>
            </a:r>
            <a:r>
              <a:rPr lang="en-US" sz="1400" dirty="0" err="1"/>
              <a:t>dalsie</a:t>
            </a:r>
            <a:r>
              <a:rPr lang="en-US" sz="1400" dirty="0"/>
              <a:t> </a:t>
            </a:r>
            <a:r>
              <a:rPr lang="en-US" sz="1400" dirty="0" err="1"/>
              <a:t>dolezite</a:t>
            </a:r>
            <a:r>
              <a:rPr lang="en-US" sz="1400" dirty="0"/>
              <a:t> </a:t>
            </a:r>
            <a:r>
              <a:rPr lang="en-US" sz="1400" dirty="0" err="1"/>
              <a:t>subory</a:t>
            </a:r>
            <a:endParaRPr lang="en-US" sz="1400" dirty="0"/>
          </a:p>
          <a:p>
            <a:endParaRPr lang="en-US" sz="1400" dirty="0"/>
          </a:p>
          <a:p>
            <a:endParaRPr lang="en-US" b="1" dirty="0"/>
          </a:p>
          <a:p>
            <a:endParaRPr lang="en-US" b="1" dirty="0"/>
          </a:p>
          <a:p>
            <a:endParaRPr lang="en-US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4E6FA9-27A0-042E-4718-BA4E94365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09" y="3911030"/>
            <a:ext cx="4951964" cy="223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9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1BCC1-6AAD-C623-F3A6-FBB213FF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285D4-856C-2D41-5358-289CF0D6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41CF-2C7F-486B-9A37-029D6984D993}" type="slidenum">
              <a:rPr lang="en-US" smtClean="0"/>
              <a:t>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7722C-F869-5119-6A2A-C93BD4A9C83B}"/>
              </a:ext>
            </a:extLst>
          </p:cNvPr>
          <p:cNvSpPr txBox="1"/>
          <p:nvPr/>
        </p:nvSpPr>
        <p:spPr>
          <a:xfrm>
            <a:off x="404326" y="572277"/>
            <a:ext cx="2593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\processed (n – fits files)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72F85D-48B2-E851-1409-906A72481EF8}"/>
              </a:ext>
            </a:extLst>
          </p:cNvPr>
          <p:cNvCxnSpPr>
            <a:stCxn id="2" idx="2"/>
          </p:cNvCxnSpPr>
          <p:nvPr/>
        </p:nvCxnSpPr>
        <p:spPr>
          <a:xfrm>
            <a:off x="1700899" y="941609"/>
            <a:ext cx="0" cy="887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EAE2EC9-8F52-82D4-8D89-76A9745F4687}"/>
              </a:ext>
            </a:extLst>
          </p:cNvPr>
          <p:cNvSpPr txBox="1"/>
          <p:nvPr/>
        </p:nvSpPr>
        <p:spPr>
          <a:xfrm>
            <a:off x="404326" y="1828800"/>
            <a:ext cx="5224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2-5 best fits for mean stack of the </a:t>
            </a:r>
            <a:r>
              <a:rPr lang="en-US" strike="sngStrike" dirty="0" err="1"/>
              <a:t>MASTERSTAR.fits</a:t>
            </a:r>
            <a:endParaRPr lang="en-US" strike="sngStrike" dirty="0"/>
          </a:p>
          <a:p>
            <a:r>
              <a:rPr lang="en-US" dirty="0"/>
              <a:t>Best one picture (fits)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3793F3-6DD0-F7C4-5766-C598E1D2C3E3}"/>
              </a:ext>
            </a:extLst>
          </p:cNvPr>
          <p:cNvCxnSpPr>
            <a:stCxn id="6" idx="2"/>
          </p:cNvCxnSpPr>
          <p:nvPr/>
        </p:nvCxnSpPr>
        <p:spPr>
          <a:xfrm>
            <a:off x="3016644" y="2475131"/>
            <a:ext cx="25136" cy="597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32D94A7-2487-E7F9-B060-28652868DA2C}"/>
              </a:ext>
            </a:extLst>
          </p:cNvPr>
          <p:cNvSpPr txBox="1"/>
          <p:nvPr/>
        </p:nvSpPr>
        <p:spPr>
          <a:xfrm>
            <a:off x="2300231" y="3128866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Plate solving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409975-9CEA-F97D-FBBC-884ED0292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42" y="3498198"/>
            <a:ext cx="3534533" cy="190108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32DAB5-0AB3-B469-82B7-7205DF3FAE7D}"/>
              </a:ext>
            </a:extLst>
          </p:cNvPr>
          <p:cNvCxnSpPr>
            <a:stCxn id="13" idx="3"/>
          </p:cNvCxnSpPr>
          <p:nvPr/>
        </p:nvCxnSpPr>
        <p:spPr>
          <a:xfrm flipV="1">
            <a:off x="4198775" y="4441371"/>
            <a:ext cx="2544147" cy="7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C87E8A8-B060-6FCB-65DF-D134F4822D48}"/>
              </a:ext>
            </a:extLst>
          </p:cNvPr>
          <p:cNvSpPr txBox="1"/>
          <p:nvPr/>
        </p:nvSpPr>
        <p:spPr>
          <a:xfrm>
            <a:off x="6742922" y="4043265"/>
            <a:ext cx="44210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Alignment *fits against to </a:t>
            </a:r>
            <a:r>
              <a:rPr lang="en-US" dirty="0" err="1"/>
              <a:t>MASTERSTAR.fits</a:t>
            </a:r>
            <a:br>
              <a:rPr lang="en-US" dirty="0"/>
            </a:br>
            <a:r>
              <a:rPr lang="en-US" dirty="0"/>
              <a:t>aligned fits from \ processed will stored in </a:t>
            </a:r>
          </a:p>
          <a:p>
            <a:r>
              <a:rPr lang="en-US" dirty="0"/>
              <a:t>\ </a:t>
            </a:r>
            <a:r>
              <a:rPr lang="en-US" dirty="0" err="1"/>
              <a:t>detrended_aligned</a:t>
            </a:r>
            <a:r>
              <a:rPr lang="en-US" dirty="0"/>
              <a:t> + with csv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5DA329-AC6A-F8C3-DF96-6005ECAA140E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8951167" y="2792963"/>
            <a:ext cx="2296" cy="1250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ED3590-203E-5009-8F2C-7AB8F7149AF0}"/>
              </a:ext>
            </a:extLst>
          </p:cNvPr>
          <p:cNvSpPr txBox="1"/>
          <p:nvPr/>
        </p:nvSpPr>
        <p:spPr>
          <a:xfrm>
            <a:off x="8125107" y="2298947"/>
            <a:ext cx="1652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Photometry ….</a:t>
            </a:r>
          </a:p>
        </p:txBody>
      </p:sp>
    </p:spTree>
    <p:extLst>
      <p:ext uri="{BB962C8B-B14F-4D97-AF65-F5344CB8AC3E}">
        <p14:creationId xmlns:p14="http://schemas.microsoft.com/office/powerpoint/2010/main" val="22871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1140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Source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Uhlár, Pharma IT</dc:creator>
  <cp:lastModifiedBy>Milan Uhlár, Pharma IT</cp:lastModifiedBy>
  <cp:revision>3</cp:revision>
  <dcterms:created xsi:type="dcterms:W3CDTF">2026-04-01T08:46:49Z</dcterms:created>
  <dcterms:modified xsi:type="dcterms:W3CDTF">2026-04-09T08:58:03Z</dcterms:modified>
</cp:coreProperties>
</file>